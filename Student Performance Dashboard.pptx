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42" r:id="rId5"/>
    <p:sldId id="359" r:id="rId6"/>
    <p:sldId id="373" r:id="rId7"/>
    <p:sldId id="374" r:id="rId8"/>
    <p:sldId id="375" r:id="rId9"/>
    <p:sldId id="365" r:id="rId10"/>
    <p:sldId id="376" r:id="rId11"/>
    <p:sldId id="377" r:id="rId12"/>
    <p:sldId id="378" r:id="rId13"/>
    <p:sldId id="37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99" autoAdjust="0"/>
    <p:restoredTop sz="95388" autoAdjust="0"/>
  </p:normalViewPr>
  <p:slideViewPr>
    <p:cSldViewPr snapToGrid="0" snapToObjects="1" showGuides="1">
      <p:cViewPr varScale="1">
        <p:scale>
          <a:sx n="75" d="100"/>
          <a:sy n="75" d="100"/>
        </p:scale>
        <p:origin x="1325" y="5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164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072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0123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0290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4872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1255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890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 anchor="b">
            <a:normAutofit/>
          </a:bodyPr>
          <a:lstStyle/>
          <a:p>
            <a:pPr algn="ctr"/>
            <a:r>
              <a:rPr lang="en-US" dirty="0"/>
              <a:t>Student Performance Dashboard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2135102" y="2512990"/>
            <a:ext cx="7303538" cy="342726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b="1" dirty="0"/>
              <a:t>Final Project – DEPI</a:t>
            </a:r>
          </a:p>
          <a:p>
            <a:pPr algn="ctr"/>
            <a:endParaRPr lang="en-US" dirty="0"/>
          </a:p>
          <a:p>
            <a:pPr marL="0" indent="0" algn="ctr">
              <a:buNone/>
            </a:pPr>
            <a:r>
              <a:rPr lang="en-US" b="1" dirty="0"/>
              <a:t>Team Members</a:t>
            </a:r>
          </a:p>
          <a:p>
            <a:pPr algn="ctr"/>
            <a:r>
              <a:rPr lang="en-US" dirty="0"/>
              <a:t>Mohamed Wael Mohamed (Team Leader)</a:t>
            </a:r>
          </a:p>
          <a:p>
            <a:pPr algn="ctr"/>
            <a:r>
              <a:rPr lang="en-US" dirty="0"/>
              <a:t>Mohamed Atef Ibrahem</a:t>
            </a:r>
          </a:p>
          <a:p>
            <a:pPr algn="ctr"/>
            <a:r>
              <a:rPr lang="en-US" dirty="0"/>
              <a:t>Seif Mohamed Helmy Ahmed</a:t>
            </a:r>
          </a:p>
          <a:p>
            <a:pPr algn="ctr"/>
            <a:r>
              <a:rPr lang="en-US" dirty="0"/>
              <a:t>Nourhan Mohamed Ahmed</a:t>
            </a:r>
          </a:p>
        </p:txBody>
      </p:sp>
      <p:pic>
        <p:nvPicPr>
          <p:cNvPr id="3" name="Picture 2" descr="A logo of a globe and a graduation cap&#10;&#10;AI-generated content may be incorrect.">
            <a:extLst>
              <a:ext uri="{FF2B5EF4-FFF2-40B4-BE49-F238E27FC236}">
                <a16:creationId xmlns:a16="http://schemas.microsoft.com/office/drawing/2014/main" id="{1EFDA17D-F544-5E55-C249-85C0E1B25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7649" y="261597"/>
            <a:ext cx="1496522" cy="1489870"/>
          </a:xfrm>
          <a:prstGeom prst="rect">
            <a:avLst/>
          </a:prstGeom>
          <a:noFill/>
          <a:ln>
            <a:noFill/>
          </a:ln>
          <a:effectLst>
            <a:softEdge rad="112500"/>
          </a:effectLst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5F1C1F93-5D02-389D-ABED-D838F5B6F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2458FF-0D0C-4ACC-C6FB-103BC0BA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 anchor="b">
            <a:normAutofit/>
          </a:bodyPr>
          <a:lstStyle/>
          <a:p>
            <a:r>
              <a:rPr lang="en-US" dirty="0"/>
              <a:t>📋 Agenda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F1239C0E-3F39-787D-0FC3-6B7C9BA37E8F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3676649"/>
          </a:xfrm>
        </p:spPr>
        <p:txBody>
          <a:bodyPr>
            <a:normAutofit/>
          </a:bodyPr>
          <a:lstStyle/>
          <a:p>
            <a:r>
              <a:rPr lang="en-US" dirty="0"/>
              <a:t>Project Overview</a:t>
            </a:r>
          </a:p>
          <a:p>
            <a:r>
              <a:rPr lang="en-US" dirty="0"/>
              <a:t>Objectives</a:t>
            </a:r>
          </a:p>
          <a:p>
            <a:r>
              <a:rPr lang="en-US" dirty="0"/>
              <a:t>Tools &amp; Technologies</a:t>
            </a:r>
          </a:p>
          <a:p>
            <a:r>
              <a:rPr lang="en-US" dirty="0"/>
              <a:t>Data Analysis &amp; SQL Queries</a:t>
            </a:r>
          </a:p>
          <a:p>
            <a:r>
              <a:rPr lang="en-US" dirty="0"/>
              <a:t>Visualization Dashboard</a:t>
            </a:r>
          </a:p>
          <a:p>
            <a:r>
              <a:rPr lang="en-US" dirty="0"/>
              <a:t>Conclusion &amp; Takeaways</a:t>
            </a:r>
          </a:p>
        </p:txBody>
      </p:sp>
      <p:sp>
        <p:nvSpPr>
          <p:cNvPr id="36" name="Slide Number Placeholder 3">
            <a:extLst>
              <a:ext uri="{FF2B5EF4-FFF2-40B4-BE49-F238E27FC236}">
                <a16:creationId xmlns:a16="http://schemas.microsoft.com/office/drawing/2014/main" id="{26AA6B1E-A4F6-A017-1935-DFC689A71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7F7C5-CBA2-9823-0CBA-5BD773998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 anchor="b">
            <a:normAutofit/>
          </a:bodyPr>
          <a:lstStyle/>
          <a:p>
            <a:r>
              <a:rPr lang="en-US" dirty="0"/>
              <a:t>Project Overview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60D053B-A40A-3228-B6D5-3371B9EE2E5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4302" y="2465535"/>
            <a:ext cx="7303538" cy="3427265"/>
          </a:xfrm>
        </p:spPr>
        <p:txBody>
          <a:bodyPr>
            <a:normAutofit/>
          </a:bodyPr>
          <a:lstStyle/>
          <a:p>
            <a:r>
              <a:rPr lang="en-US" dirty="0"/>
              <a:t>This project focuses on analyzing student performance data to identify key academic patterns and trends.</a:t>
            </a:r>
            <a:br>
              <a:rPr lang="en-US" dirty="0"/>
            </a:br>
            <a:r>
              <a:rPr lang="en-US" dirty="0"/>
              <a:t>The main goal is to help educators and administrators understand how different factors — such as attendance, gender, and major — affect students’ GPA.</a:t>
            </a:r>
          </a:p>
          <a:p>
            <a:r>
              <a:rPr lang="en-US" dirty="0"/>
              <a:t>Using Python, SQL, and visualization tools, we developed a clear and data-driven dashboard that supports early detection of at-risk students and enhances overall academic outcomes.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730D1B-038C-B2A4-C319-093CD494AE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87" r="13467" b="1"/>
          <a:stretch>
            <a:fillRect/>
          </a:stretch>
        </p:blipFill>
        <p:spPr>
          <a:xfrm>
            <a:off x="8117840" y="2665691"/>
            <a:ext cx="3867292" cy="2280382"/>
          </a:xfrm>
          <a:prstGeom prst="rect">
            <a:avLst/>
          </a:prstGeom>
          <a:noFill/>
          <a:ln>
            <a:noFill/>
          </a:ln>
          <a:effectLst>
            <a:softEdge rad="112500"/>
          </a:effectLst>
        </p:spPr>
      </p:pic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E4FE1DD9-1CB8-1A93-F2CF-504A96C6A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A6A971A9-0C5C-DDFC-67F9-2E5A55F12F6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1937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EFE388-CD0B-9671-4D4E-D6D8004C8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 anchor="b">
            <a:normAutofit/>
          </a:bodyPr>
          <a:lstStyle/>
          <a:p>
            <a:r>
              <a:rPr lang="en-US" dirty="0"/>
              <a:t>🎯 Project Objectives</a:t>
            </a:r>
          </a:p>
        </p:txBody>
      </p:sp>
      <p:pic>
        <p:nvPicPr>
          <p:cNvPr id="8" name="Picture Placeholder 7" descr="A blue and purple spirals">
            <a:extLst>
              <a:ext uri="{FF2B5EF4-FFF2-40B4-BE49-F238E27FC236}">
                <a16:creationId xmlns:a16="http://schemas.microsoft.com/office/drawing/2014/main" id="{E1DBD4C7-D952-4426-40FD-8799F80F821F}"/>
              </a:ext>
            </a:extLst>
          </p:cNvPr>
          <p:cNvPicPr>
            <a:picLocks noGrp="1" noChangeAspect="1"/>
          </p:cNvPicPr>
          <p:nvPr>
            <p:ph sz="quarter" idx="35"/>
          </p:nvPr>
        </p:nvPicPr>
        <p:blipFill>
          <a:blip r:embed="rId3"/>
          <a:srcRect t="948" r="3" b="14213"/>
          <a:stretch>
            <a:fillRect/>
          </a:stretch>
        </p:blipFill>
        <p:spPr>
          <a:xfrm>
            <a:off x="807038" y="2465539"/>
            <a:ext cx="3774587" cy="3723753"/>
          </a:xfrm>
          <a:noFill/>
        </p:spPr>
      </p:pic>
      <p:sp>
        <p:nvSpPr>
          <p:cNvPr id="5" name="Subtitle 4">
            <a:extLst>
              <a:ext uri="{FF2B5EF4-FFF2-40B4-BE49-F238E27FC236}">
                <a16:creationId xmlns:a16="http://schemas.microsoft.com/office/drawing/2014/main" id="{BE4E0F37-0AD5-833C-CBE5-EAE02EC46069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927600" y="2465539"/>
            <a:ext cx="6315069" cy="3723753"/>
          </a:xfrm>
        </p:spPr>
        <p:txBody>
          <a:bodyPr>
            <a:normAutofit/>
          </a:bodyPr>
          <a:lstStyle/>
          <a:p>
            <a:r>
              <a:rPr lang="en-US" dirty="0"/>
              <a:t>The main objectives of this project are:</a:t>
            </a:r>
          </a:p>
          <a:p>
            <a:r>
              <a:rPr lang="en-US" dirty="0"/>
              <a:t>• visualizations that make academic patterns easier to </a:t>
            </a:r>
            <a:r>
              <a:rPr lang="en-US" dirty="0" err="1"/>
              <a:t>undTo</a:t>
            </a:r>
            <a:r>
              <a:rPr lang="en-US" dirty="0"/>
              <a:t> preprocess and clean the student dataset by handling missing and duplicate values.</a:t>
            </a:r>
            <a:br>
              <a:rPr lang="en-US" dirty="0"/>
            </a:br>
            <a:r>
              <a:rPr lang="en-US" dirty="0"/>
              <a:t>• To perform SQL queries for extracting key insights related to GPA, gender, attendance, and major.</a:t>
            </a:r>
            <a:br>
              <a:rPr lang="en-US" dirty="0"/>
            </a:br>
            <a:r>
              <a:rPr lang="en-US" dirty="0"/>
              <a:t>• To create data </a:t>
            </a:r>
            <a:r>
              <a:rPr lang="en-US" dirty="0" err="1"/>
              <a:t>erstand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• To support teachers and school administrators in identifying at-risk students early and improving academic performance.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6EA54-3083-FB0D-9011-2353791B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144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 anchor="b">
            <a:normAutofit/>
          </a:bodyPr>
          <a:lstStyle/>
          <a:p>
            <a:r>
              <a:rPr lang="en-US" dirty="0"/>
              <a:t>Tools &amp; Technologies Used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60DFF-2E7E-7A22-819A-C011020DFF01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14302" y="2465535"/>
            <a:ext cx="7303538" cy="34272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following tools and technologies were used throughout the project:</a:t>
            </a:r>
          </a:p>
          <a:p>
            <a:pPr marL="0" indent="0">
              <a:buNone/>
            </a:pPr>
            <a:r>
              <a:rPr lang="en-US" dirty="0"/>
              <a:t>  • </a:t>
            </a:r>
            <a:r>
              <a:rPr lang="en-US" b="1" dirty="0"/>
              <a:t>Python</a:t>
            </a:r>
            <a:r>
              <a:rPr lang="en-US" dirty="0"/>
              <a:t> – Used for data preprocessing, analysis, and visualization.</a:t>
            </a:r>
            <a:br>
              <a:rPr lang="en-US" dirty="0"/>
            </a:br>
            <a:r>
              <a:rPr lang="en-US" dirty="0"/>
              <a:t>    </a:t>
            </a:r>
            <a:r>
              <a:rPr lang="en-US" i="1" dirty="0"/>
              <a:t>(Libraries: Pandas, Matplotlib, Seaborn, SQLite)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• </a:t>
            </a:r>
            <a:r>
              <a:rPr lang="en-US" b="1" dirty="0" err="1"/>
              <a:t>Jupyter</a:t>
            </a:r>
            <a:r>
              <a:rPr lang="en-US" b="1" dirty="0"/>
              <a:t> Notebook</a:t>
            </a:r>
            <a:r>
              <a:rPr lang="en-US" dirty="0"/>
              <a:t> – Used as the main environment for code                  development and testing.</a:t>
            </a:r>
          </a:p>
          <a:p>
            <a:pPr marL="0" indent="0">
              <a:buNone/>
            </a:pPr>
            <a:r>
              <a:rPr lang="en-US" dirty="0"/>
              <a:t>  • </a:t>
            </a:r>
            <a:r>
              <a:rPr lang="en-US" b="1" dirty="0"/>
              <a:t>PowerPoint</a:t>
            </a:r>
            <a:r>
              <a:rPr lang="en-US" dirty="0"/>
              <a:t> – Used for documentation, visualization presentation, and reporting.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pic>
        <p:nvPicPr>
          <p:cNvPr id="26" name="Content Placeholder 25" descr="A logo of a powerpoint&#10;&#10;AI-generated content may be incorrect.">
            <a:extLst>
              <a:ext uri="{FF2B5EF4-FFF2-40B4-BE49-F238E27FC236}">
                <a16:creationId xmlns:a16="http://schemas.microsoft.com/office/drawing/2014/main" id="{81790199-FD42-8BA6-7B44-3D602BDC21E9}"/>
              </a:ext>
            </a:extLst>
          </p:cNvPr>
          <p:cNvPicPr>
            <a:picLocks noGrp="1" noChangeAspect="1"/>
          </p:cNvPicPr>
          <p:nvPr>
            <p:ph sz="quarter" idx="37"/>
          </p:nvPr>
        </p:nvPicPr>
        <p:blipFill>
          <a:blip r:embed="rId3"/>
          <a:stretch>
            <a:fillRect/>
          </a:stretch>
        </p:blipFill>
        <p:spPr>
          <a:xfrm>
            <a:off x="8257497" y="4643792"/>
            <a:ext cx="1486333" cy="1486333"/>
          </a:xfrm>
        </p:spPr>
      </p:pic>
      <p:pic>
        <p:nvPicPr>
          <p:cNvPr id="28" name="Picture 27" descr="A logo with orange circles and black text&#10;&#10;AI-generated content may be incorrect.">
            <a:extLst>
              <a:ext uri="{FF2B5EF4-FFF2-40B4-BE49-F238E27FC236}">
                <a16:creationId xmlns:a16="http://schemas.microsoft.com/office/drawing/2014/main" id="{DE9D1966-AF9C-878C-9899-950A1BCF5D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0096" y="3469043"/>
            <a:ext cx="1874075" cy="1049482"/>
          </a:xfrm>
          <a:prstGeom prst="rect">
            <a:avLst/>
          </a:prstGeom>
        </p:spPr>
      </p:pic>
      <p:pic>
        <p:nvPicPr>
          <p:cNvPr id="30" name="Picture 29" descr="A blue and yellow logo&#10;&#10;AI-generated content may be incorrect.">
            <a:extLst>
              <a:ext uri="{FF2B5EF4-FFF2-40B4-BE49-F238E27FC236}">
                <a16:creationId xmlns:a16="http://schemas.microsoft.com/office/drawing/2014/main" id="{2F94B44C-D355-B078-B35E-466760C751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1800" y="2094768"/>
            <a:ext cx="2119067" cy="1190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FD6A3FE-1BF6-4C1A-0553-EBD497A69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 anchor="b">
            <a:normAutofit/>
          </a:bodyPr>
          <a:lstStyle/>
          <a:p>
            <a:r>
              <a:rPr lang="en-US" dirty="0"/>
              <a:t>📊 Data Analysis &amp; SQL Queries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15774B0-D971-67D7-27EB-FDB82B3A58CD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07038" y="2465539"/>
            <a:ext cx="3774587" cy="372375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500" dirty="0"/>
              <a:t>During this stage, the dataset was cleaned and prepared for analysis by:</a:t>
            </a:r>
            <a:br>
              <a:rPr lang="en-US" sz="1500" dirty="0"/>
            </a:br>
            <a:r>
              <a:rPr lang="en-US" sz="1500" dirty="0"/>
              <a:t>• Removing missing and duplicate values.</a:t>
            </a:r>
            <a:br>
              <a:rPr lang="en-US" sz="1500" dirty="0"/>
            </a:br>
            <a:r>
              <a:rPr lang="en-US" sz="1500" dirty="0"/>
              <a:t>• Creating a new column called </a:t>
            </a:r>
            <a:r>
              <a:rPr lang="en-US" sz="1500" i="1" dirty="0"/>
              <a:t>Performance Category</a:t>
            </a:r>
            <a:r>
              <a:rPr lang="en-US" sz="1500" dirty="0"/>
              <a:t> to classify students based on GPA.</a:t>
            </a:r>
          </a:p>
          <a:p>
            <a:pPr>
              <a:lnSpc>
                <a:spcPct val="110000"/>
              </a:lnSpc>
            </a:pPr>
            <a:r>
              <a:rPr lang="en-US" sz="1500" dirty="0"/>
              <a:t>SQL queries were then used to extract key academic insights, such as:</a:t>
            </a:r>
            <a:br>
              <a:rPr lang="en-US" sz="1500" dirty="0"/>
            </a:br>
            <a:r>
              <a:rPr lang="en-US" sz="1500" dirty="0"/>
              <a:t>• Average GPA by Gender and Major.</a:t>
            </a:r>
            <a:br>
              <a:rPr lang="en-US" sz="1500" dirty="0"/>
            </a:br>
            <a:r>
              <a:rPr lang="en-US" sz="1500" dirty="0"/>
              <a:t>• Relationship between Attendance and GPA.</a:t>
            </a:r>
            <a:br>
              <a:rPr lang="en-US" sz="1500" dirty="0"/>
            </a:br>
            <a:r>
              <a:rPr lang="en-US" sz="1500" dirty="0"/>
              <a:t>• List of top-performing students.</a:t>
            </a:r>
          </a:p>
        </p:txBody>
      </p:sp>
      <p:pic>
        <p:nvPicPr>
          <p:cNvPr id="4" name="Picture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A72C79E0-8709-50D5-DC73-9FBFEAED7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600" y="2781248"/>
            <a:ext cx="6315069" cy="309233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9E3CD1BC-28A8-273C-F498-CB876356C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692FC88-DAD7-F5AD-7831-DE5432210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7339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A29A4-AAFD-04EE-0732-0671E83D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 anchor="b">
            <a:normAutofit/>
          </a:bodyPr>
          <a:lstStyle/>
          <a:p>
            <a:r>
              <a:rPr lang="en-US" dirty="0"/>
              <a:t>📈 Visualization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FEE91-E849-1CB0-9E51-A58B99C631C5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733562" y="2465535"/>
            <a:ext cx="6643138" cy="352886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The visualization dashboard was designed to present clear and interactive insights into student performance.</a:t>
            </a:r>
          </a:p>
          <a:p>
            <a:pPr>
              <a:lnSpc>
                <a:spcPct val="110000"/>
              </a:lnSpc>
            </a:pPr>
            <a:r>
              <a:rPr lang="en-US" dirty="0"/>
              <a:t>It includes several visual elements that highlight key academic patterns: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Bar Chart:</a:t>
            </a:r>
            <a:r>
              <a:rPr lang="en-US" dirty="0"/>
              <a:t> Average GPA by Major.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Pie Chart:</a:t>
            </a:r>
            <a:r>
              <a:rPr lang="en-US" dirty="0"/>
              <a:t> Distribution of performance categories (High, Medium, Low).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Scatter Plot:</a:t>
            </a:r>
            <a:r>
              <a:rPr lang="en-US" dirty="0"/>
              <a:t> Relationship between Attendance and GPA.</a:t>
            </a:r>
          </a:p>
          <a:p>
            <a:pPr>
              <a:lnSpc>
                <a:spcPct val="110000"/>
              </a:lnSpc>
            </a:pPr>
            <a:r>
              <a:rPr lang="en-US" dirty="0"/>
              <a:t>These visualizations help identify trends and support data-driven decision-making in the education process.</a:t>
            </a:r>
          </a:p>
        </p:txBody>
      </p:sp>
      <p:pic>
        <p:nvPicPr>
          <p:cNvPr id="13" name="Content Placeholder 12" descr="A graph with blue lines and numbers&#10;&#10;AI-generated content may be incorrect.">
            <a:extLst>
              <a:ext uri="{FF2B5EF4-FFF2-40B4-BE49-F238E27FC236}">
                <a16:creationId xmlns:a16="http://schemas.microsoft.com/office/drawing/2014/main" id="{57BDBDD6-3CDD-8515-72D8-DE03CB37A909}"/>
              </a:ext>
            </a:extLst>
          </p:cNvPr>
          <p:cNvPicPr>
            <a:picLocks noGrp="1" noChangeAspect="1"/>
          </p:cNvPicPr>
          <p:nvPr>
            <p:ph sz="quarter" idx="37"/>
          </p:nvPr>
        </p:nvPicPr>
        <p:blipFill>
          <a:blip r:embed="rId3"/>
          <a:stretch>
            <a:fillRect/>
          </a:stretch>
        </p:blipFill>
        <p:spPr>
          <a:xfrm>
            <a:off x="8249921" y="2163142"/>
            <a:ext cx="2600960" cy="2061260"/>
          </a:xfr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23533-91C6-420C-B7D7-4977ACF7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pic>
        <p:nvPicPr>
          <p:cNvPr id="15" name="Picture 14" descr="A screenshot of a graph&#10;&#10;AI-generated content may be incorrect.">
            <a:extLst>
              <a:ext uri="{FF2B5EF4-FFF2-40B4-BE49-F238E27FC236}">
                <a16:creationId xmlns:a16="http://schemas.microsoft.com/office/drawing/2014/main" id="{4761545C-7688-AD9D-E44A-C00D7B9DF5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9921" y="4411626"/>
            <a:ext cx="2600960" cy="2179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601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83E06-8BEA-1DD3-D0D6-391C08880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 anchor="b">
            <a:normAutofit/>
          </a:bodyPr>
          <a:lstStyle/>
          <a:p>
            <a:r>
              <a:rPr lang="en-US" dirty="0"/>
              <a:t>💡 Conclusion &amp;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175D3-F3DC-695F-474B-346EDCA5D60F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36766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1️⃣ Students with higher attendance rates consistently achieved better GPAs, confirming that attendance is a key factor in academic success.</a:t>
            </a:r>
          </a:p>
          <a:p>
            <a:pPr marL="0" indent="0">
              <a:buNone/>
            </a:pPr>
            <a:r>
              <a:rPr lang="en-US" dirty="0"/>
              <a:t>2️⃣ Female students slightly outperformed male students on average, and performance varied across different majors.</a:t>
            </a:r>
          </a:p>
          <a:p>
            <a:pPr marL="0" indent="0">
              <a:buNone/>
            </a:pPr>
            <a:r>
              <a:rPr lang="en-US" dirty="0"/>
              <a:t>3️⃣ The developed dashboard allows early detection of at-risk students, helping teachers and administrators provide targeted support.</a:t>
            </a:r>
          </a:p>
          <a:p>
            <a:pPr marL="0" indent="0">
              <a:buNone/>
            </a:pPr>
            <a:r>
              <a:rPr lang="en-US" dirty="0"/>
              <a:t>4️⃣ Future improvement: Integrate a predictive analytics model to forecast student performance and enhance decision-making.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B8B6A-2B28-5C38-80E7-0EBE705F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0596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3EB8B-0AB9-7554-AEEA-E8D744959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 anchor="b">
            <a:normAutofit/>
          </a:bodyPr>
          <a:lstStyle/>
          <a:p>
            <a:pPr lvl="0"/>
            <a:r>
              <a:rPr lang="en-US" dirty="0"/>
              <a:t>🤝 Acknowledgment &amp; References</a:t>
            </a:r>
            <a:endParaRPr lang="en-US" noProof="0" dirty="0"/>
          </a:p>
        </p:txBody>
      </p:sp>
      <p:pic>
        <p:nvPicPr>
          <p:cNvPr id="6" name="Picture Placeholder 5" descr="A blue and purple spiral">
            <a:extLst>
              <a:ext uri="{FF2B5EF4-FFF2-40B4-BE49-F238E27FC236}">
                <a16:creationId xmlns:a16="http://schemas.microsoft.com/office/drawing/2014/main" id="{05B64636-376E-96D4-B550-D764B2C6A6A7}"/>
              </a:ext>
            </a:extLst>
          </p:cNvPr>
          <p:cNvPicPr>
            <a:picLocks noGrp="1" noChangeAspect="1"/>
          </p:cNvPicPr>
          <p:nvPr>
            <p:ph sz="quarter" idx="3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1102427" y="2465539"/>
            <a:ext cx="3183808" cy="3723753"/>
          </a:xfr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F5F9A-B16D-CA49-7F40-A0142E41DC5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927600" y="2465539"/>
            <a:ext cx="6315069" cy="3723753"/>
          </a:xfrm>
        </p:spPr>
        <p:txBody>
          <a:bodyPr>
            <a:normAutofit/>
          </a:bodyPr>
          <a:lstStyle/>
          <a:p>
            <a:r>
              <a:rPr lang="en-US" dirty="0"/>
              <a:t>We would like to express our sincere appreciation to our mentors and instructors at DEPI for their continuous support and guidance throughout this project.</a:t>
            </a:r>
          </a:p>
          <a:p>
            <a:r>
              <a:rPr lang="en-US" b="1" dirty="0"/>
              <a:t>References:</a:t>
            </a:r>
            <a:br>
              <a:rPr lang="en-US" dirty="0"/>
            </a:br>
            <a:r>
              <a:rPr lang="en-US" dirty="0"/>
              <a:t>• Python Libraries: Pandas, Matplotlib, Seaborn, SQLite.</a:t>
            </a:r>
            <a:br>
              <a:rPr lang="en-US" dirty="0"/>
            </a:br>
            <a:r>
              <a:rPr lang="en-US" dirty="0"/>
              <a:t>• Tools: </a:t>
            </a:r>
            <a:r>
              <a:rPr lang="en-US" dirty="0" err="1"/>
              <a:t>Jupyter</a:t>
            </a:r>
            <a:r>
              <a:rPr lang="en-US" dirty="0"/>
              <a:t> Notebook, PowerPoint.</a:t>
            </a:r>
            <a:br>
              <a:rPr lang="en-US" dirty="0"/>
            </a:br>
            <a:r>
              <a:rPr lang="en-US" dirty="0"/>
              <a:t>• Dataset: Student Performance Dataset (prepared for DEPI project).</a:t>
            </a:r>
          </a:p>
          <a:p>
            <a:r>
              <a:rPr lang="en-US" dirty="0"/>
              <a:t>This project was completed as part of the DEPI Final Milestone submission, October 2025.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DB868-BEE2-49F7-9AC5-A3B143880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3156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CE1ABEC8-43FD-4F21-A7D2-70200D86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" y="1821180"/>
            <a:ext cx="12191994" cy="3215641"/>
          </a:xfrm>
        </p:spPr>
        <p:txBody>
          <a:bodyPr anchor="ctr">
            <a:normAutofit/>
          </a:bodyPr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954649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305301E-11B3-4B9D-A588-21F3C980937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{A5A5D968-1901-4B9B-9EE3-B7BCB1375CD6}TFe8699e8e-689b-4d7e-abcf-e888fd749829db3118dc_win32-d573b439b56f</Template>
  <TotalTime>67</TotalTime>
  <Words>616</Words>
  <Application>Microsoft Office PowerPoint</Application>
  <PresentationFormat>Widescreen</PresentationFormat>
  <Paragraphs>63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Nova</vt:lpstr>
      <vt:lpstr>Biome</vt:lpstr>
      <vt:lpstr>Calibri</vt:lpstr>
      <vt:lpstr>Custom</vt:lpstr>
      <vt:lpstr>Student Performance Dashboard</vt:lpstr>
      <vt:lpstr>📋 Agenda</vt:lpstr>
      <vt:lpstr>Project Overview</vt:lpstr>
      <vt:lpstr>🎯 Project Objectives</vt:lpstr>
      <vt:lpstr>Tools &amp; Technologies Used</vt:lpstr>
      <vt:lpstr>📊 Data Analysis &amp; SQL Queries</vt:lpstr>
      <vt:lpstr>📈 Visualization Dashboard</vt:lpstr>
      <vt:lpstr>💡 Conclusion &amp; Takeaways</vt:lpstr>
      <vt:lpstr>🤝 Acknowledgment &amp; 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Wael</dc:creator>
  <cp:lastModifiedBy>Mohammed Wael</cp:lastModifiedBy>
  <cp:revision>4</cp:revision>
  <dcterms:created xsi:type="dcterms:W3CDTF">2025-10-10T11:00:56Z</dcterms:created>
  <dcterms:modified xsi:type="dcterms:W3CDTF">2025-10-21T18:39:43Z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