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6"/>
  </p:notesMasterIdLst>
  <p:handoutMasterIdLst>
    <p:handoutMasterId r:id="rId17"/>
  </p:handoutMasterIdLst>
  <p:sldIdLst>
    <p:sldId id="342" r:id="rId5"/>
    <p:sldId id="359" r:id="rId6"/>
    <p:sldId id="373" r:id="rId7"/>
    <p:sldId id="374" r:id="rId8"/>
    <p:sldId id="375" r:id="rId9"/>
    <p:sldId id="365" r:id="rId10"/>
    <p:sldId id="376" r:id="rId11"/>
    <p:sldId id="379" r:id="rId12"/>
    <p:sldId id="377" r:id="rId13"/>
    <p:sldId id="378" r:id="rId14"/>
    <p:sldId id="372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3FBFE"/>
    <a:srgbClr val="000000"/>
    <a:srgbClr val="FFFFFF"/>
    <a:srgbClr val="05202E"/>
    <a:srgbClr val="0515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10A1B5D5-9B99-4C35-A422-299274C87663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9631B5-78F2-41C9-869B-9F39066F8104}" styleName="Medium Style 3 - 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4C1A8A3-306A-4EB7-A6B1-4F7E0EB9C5D6}" styleName="Medium Style 3 - Accent 5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2A488322-F2BA-4B5B-9748-0D474271808F}" styleName="Medium Style 3 - Accent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912C8C85-51F0-491E-9774-3900AFEF0FD7}" styleName="Light Style 2 - Accent 6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</a:tcStyle>
    </a:band1H>
    <a:band1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1V>
    <a:band2V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6"/>
        </a:fillRef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799" autoAdjust="0"/>
    <p:restoredTop sz="95388" autoAdjust="0"/>
  </p:normalViewPr>
  <p:slideViewPr>
    <p:cSldViewPr snapToGrid="0" snapToObjects="1" showGuides="1">
      <p:cViewPr varScale="1">
        <p:scale>
          <a:sx n="75" d="100"/>
          <a:sy n="75" d="100"/>
        </p:scale>
        <p:origin x="1325" y="53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 snapToObjects="1">
      <p:cViewPr varScale="1">
        <p:scale>
          <a:sx n="67" d="100"/>
          <a:sy n="67" d="100"/>
        </p:scale>
        <p:origin x="3120" y="7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handoutMaster" Target="handoutMasters/handoutMaster1.xml"/><Relationship Id="rId2" Type="http://schemas.openxmlformats.org/officeDocument/2006/relationships/customXml" Target="../customXml/item2.xml"/><Relationship Id="rId16" Type="http://schemas.openxmlformats.org/officeDocument/2006/relationships/notesMaster" Target="notesMasters/notes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10" Type="http://schemas.openxmlformats.org/officeDocument/2006/relationships/slide" Target="slides/slide6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54459878-C319-6BF3-52DC-16FA4340A6C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82FA7FC-DFAE-8499-5A3E-AD9648D7FCA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8BFD57-AB0A-470B-A7AF-56DFE7B5174A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9C12BB-9544-9F9A-BEDA-E71686438591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1E77E4-B9A2-A882-9240-3AE65EE2176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9D61A1-75D9-49F7-83EB-F5872642613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732728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4B3339F-6CEA-4641-BE08-40DAFD6FCF25}" type="datetimeFigureOut">
              <a:rPr lang="en-US" smtClean="0"/>
              <a:t>11/28/2025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EF75CB5-5666-5049-9AE0-38EFD385C21E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55626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7599972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26738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6016410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350729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52248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DEF75CB5-5666-5049-9AE0-38EFD385C21E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450123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9302908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124872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6512558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DEF75CB5-5666-5049-9AE0-38EFD385C21E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78901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304799"/>
            <a:ext cx="12191998" cy="3215641"/>
          </a:xfrm>
        </p:spPr>
        <p:txBody>
          <a:bodyPr lIns="0" rIns="0" bIns="0" anchor="b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58B9CAE2-F3DD-D6D3-96C8-D947A4117752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" y="3670628"/>
            <a:ext cx="12191997" cy="2577772"/>
          </a:xfrm>
        </p:spPr>
        <p:txBody>
          <a:bodyPr>
            <a:noAutofit/>
          </a:bodyPr>
          <a:lstStyle>
            <a:lvl1pPr marL="0" indent="0" algn="ctr">
              <a:buNone/>
              <a:defRPr sz="3200" b="0" i="0" cap="all" spc="600" baseline="0">
                <a:solidFill>
                  <a:schemeClr val="accent3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41193215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bg>
      <p:bgPr>
        <a:gradFill>
          <a:gsLst>
            <a:gs pos="93000">
              <a:schemeClr val="tx2"/>
            </a:gs>
            <a:gs pos="81000">
              <a:schemeClr val="accent6">
                <a:lumMod val="50000"/>
              </a:schemeClr>
            </a:gs>
            <a:gs pos="27000">
              <a:schemeClr val="tx1"/>
            </a:gs>
            <a:gs pos="8000">
              <a:schemeClr val="accent4">
                <a:lumMod val="75000"/>
              </a:schemeClr>
            </a:gs>
            <a:gs pos="0">
              <a:schemeClr val="accent4"/>
            </a:gs>
            <a:gs pos="99000">
              <a:schemeClr val="tx2">
                <a:lumMod val="40000"/>
                <a:lumOff val="60000"/>
              </a:schemeClr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1BA6450-E291-DC40-F198-C02B485137B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" y="1"/>
            <a:ext cx="12192003" cy="685799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3A462FF1-D97D-8505-FE7F-8B2DB411A8B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" y="1821180"/>
            <a:ext cx="12191994" cy="3215641"/>
          </a:xfrm>
        </p:spPr>
        <p:txBody>
          <a:bodyPr lIns="0" rIns="0" bIns="0" anchor="ctr" anchorCtr="0">
            <a:noAutofit/>
          </a:bodyPr>
          <a:lstStyle>
            <a:lvl1pPr algn="ctr">
              <a:defRPr sz="6000" kern="1200" cap="all" spc="3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</p:spTree>
    <p:extLst>
      <p:ext uri="{BB962C8B-B14F-4D97-AF65-F5344CB8AC3E}">
        <p14:creationId xmlns:p14="http://schemas.microsoft.com/office/powerpoint/2010/main" val="163504510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A084D09-1B2D-4EE2-82A7-83196133B8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6350"/>
            <a:ext cx="12185769" cy="6864350"/>
            <a:chOff x="0" y="-6350"/>
            <a:chExt cx="12185769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53860AA6-1B14-DF89-B725-CC444E50202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0" y="-6350"/>
              <a:ext cx="6160393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Content Placeholder 14">
              <a:extLst>
                <a:ext uri="{FF2B5EF4-FFF2-40B4-BE49-F238E27FC236}">
                  <a16:creationId xmlns:a16="http://schemas.microsoft.com/office/drawing/2014/main" id="{D172E570-D67F-4980-88C2-CF6560C1C19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alphaModFix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 rot="5400000">
              <a:off x="5750267" y="410125"/>
              <a:ext cx="6845628" cy="6025377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F90BF68-CF26-6705-CBFD-428BEB787EDB}"/>
                </a:ext>
              </a:extLst>
            </p:cNvPr>
            <p:cNvGrpSpPr/>
            <p:nvPr/>
          </p:nvGrpSpPr>
          <p:grpSpPr>
            <a:xfrm rot="10800000">
              <a:off x="5304704" y="259572"/>
              <a:ext cx="584267" cy="390181"/>
              <a:chOff x="1876516" y="596691"/>
              <a:chExt cx="584267" cy="390181"/>
            </a:xfrm>
          </p:grpSpPr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1066F635-8DB9-B091-8467-D8F0327217F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876516" y="842493"/>
                <a:ext cx="144379" cy="144379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9" name="Graphic 12">
                <a:extLst>
                  <a:ext uri="{FF2B5EF4-FFF2-40B4-BE49-F238E27FC236}">
                    <a16:creationId xmlns:a16="http://schemas.microsoft.com/office/drawing/2014/main" id="{882D2FD3-A05B-400C-6347-115486FFD94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360199" y="596691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60459F4-C5B9-4070-46D1-2E7DA3EFBF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5"/>
            <a:ext cx="4466502" cy="1936866"/>
          </a:xfrm>
        </p:spPr>
        <p:txBody>
          <a:bodyPr anchor="b"/>
          <a:lstStyle>
            <a:lvl1pPr>
              <a:defRPr sz="3200" cap="all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34F613B1-323C-4C25-4526-1D3313A7161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20500"/>
            <a:ext cx="4471665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D2C2143-1936-BBDA-A6A8-40B6DBD16AE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838201" y="3097848"/>
            <a:ext cx="4466504" cy="3405187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1090407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126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8EB5B81B-FCE8-FE9C-8F0A-6488B25F0F6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21869" y="579120"/>
            <a:ext cx="11548261" cy="2733306"/>
          </a:xfrm>
        </p:spPr>
        <p:txBody>
          <a:bodyPr anchor="b">
            <a:noAutofit/>
          </a:bodyPr>
          <a:lstStyle>
            <a:lvl1pPr algn="ctr">
              <a:defRPr sz="32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Subtitle 2">
            <a:extLst>
              <a:ext uri="{FF2B5EF4-FFF2-40B4-BE49-F238E27FC236}">
                <a16:creationId xmlns:a16="http://schemas.microsoft.com/office/drawing/2014/main" id="{5F877C2F-8190-18D9-5D24-5BD7B05A29F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21868" y="3484615"/>
            <a:ext cx="11562303" cy="2387865"/>
          </a:xfrm>
        </p:spPr>
        <p:txBody>
          <a:bodyPr>
            <a:noAutofit/>
          </a:bodyPr>
          <a:lstStyle>
            <a:lvl1pPr marL="0" indent="0" algn="ctr">
              <a:buNone/>
              <a:defRPr sz="60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865902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Title">
    <p:bg>
      <p:bgPr>
        <a:gradFill>
          <a:gsLst>
            <a:gs pos="100000">
              <a:schemeClr val="tx2"/>
            </a:gs>
            <a:gs pos="79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3664209F-41AB-70E5-1B9E-7490900C59C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" y="1"/>
            <a:ext cx="12191997" cy="6857998"/>
          </a:xfrm>
          <a:prstGeom prst="rect">
            <a:avLst/>
          </a:prstGeom>
          <a:gradFill flip="none" rotWithShape="1">
            <a:gsLst>
              <a:gs pos="0">
                <a:srgbClr val="1A012C"/>
              </a:gs>
              <a:gs pos="45000">
                <a:srgbClr val="1A012C">
                  <a:alpha val="50000"/>
                </a:srgbClr>
              </a:gs>
              <a:gs pos="100000">
                <a:schemeClr val="accent6">
                  <a:lumMod val="50000"/>
                  <a:alpha val="50000"/>
                </a:schemeClr>
              </a:gs>
            </a:gsLst>
            <a:path path="circle">
              <a:fillToRect l="50000" t="50000" r="50000" b="50000"/>
            </a:path>
            <a:tileRect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2D3409-585B-54E2-1DCC-AC58804E4A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1" y="-6350"/>
            <a:ext cx="6096000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99891" y="511762"/>
            <a:ext cx="4960830" cy="2785158"/>
          </a:xfrm>
        </p:spPr>
        <p:txBody>
          <a:bodyPr anchor="b">
            <a:noAutofit/>
          </a:bodyPr>
          <a:lstStyle>
            <a:lvl1pPr algn="l">
              <a:defRPr sz="2400" cap="all" spc="300" baseline="0"/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8" name="Subtitle 2">
            <a:extLst>
              <a:ext uri="{FF2B5EF4-FFF2-40B4-BE49-F238E27FC236}">
                <a16:creationId xmlns:a16="http://schemas.microsoft.com/office/drawing/2014/main" id="{E47B8A5C-E279-DB0B-E9D3-92741787612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802640" y="3484615"/>
            <a:ext cx="4958081" cy="2387865"/>
          </a:xfrm>
        </p:spPr>
        <p:txBody>
          <a:bodyPr>
            <a:noAutofit/>
          </a:bodyPr>
          <a:lstStyle>
            <a:lvl1pPr marL="0" indent="0" algn="l">
              <a:buNone/>
              <a:defRPr sz="3200" b="0" i="0" cap="all" spc="600" baseline="0">
                <a:solidFill>
                  <a:schemeClr val="accent3">
                    <a:lumMod val="75000"/>
                  </a:schemeClr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386C402-C5C5-2A54-C618-62673AD93CB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97638" y="336550"/>
            <a:ext cx="5322887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321855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6_Title and 2 column">
    <p:bg>
      <p:bgPr>
        <a:gradFill>
          <a:gsLst>
            <a:gs pos="100000">
              <a:schemeClr val="tx2"/>
            </a:gs>
            <a:gs pos="79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14">
            <a:extLst>
              <a:ext uri="{FF2B5EF4-FFF2-40B4-BE49-F238E27FC236}">
                <a16:creationId xmlns:a16="http://schemas.microsoft.com/office/drawing/2014/main" id="{318CE367-BBCB-F4AB-635F-4C9995EAE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0" y="-6350"/>
            <a:ext cx="2356339" cy="6853863"/>
          </a:xfrm>
          <a:prstGeom prst="rect">
            <a:avLst/>
          </a:prstGeom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5CE3FBBA-81E2-31F1-EF51-02706B5B5C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2356339" y="-6350"/>
            <a:ext cx="983180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9AD3746D-3CD1-FFA5-0019-AD0C588B192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3305669" y="2002443"/>
            <a:ext cx="7922116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05669" y="113097"/>
            <a:ext cx="7420819" cy="16563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B9624CF4-7769-4663-3361-39136F5E20C8}"/>
              </a:ext>
            </a:extLst>
          </p:cNvPr>
          <p:cNvSpPr>
            <a:spLocks noGrp="1"/>
          </p:cNvSpPr>
          <p:nvPr>
            <p:ph sz="quarter" idx="31" hasCustomPrompt="1"/>
          </p:nvPr>
        </p:nvSpPr>
        <p:spPr>
          <a:xfrm>
            <a:off x="3305669" y="2470150"/>
            <a:ext cx="7420819" cy="3676649"/>
          </a:xfrm>
        </p:spPr>
        <p:txBody>
          <a:bodyPr/>
          <a:lstStyle>
            <a:lvl1pPr marL="2857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>
                <a:solidFill>
                  <a:schemeClr val="bg1"/>
                </a:solidFill>
                <a:latin typeface="+mn-lt"/>
              </a:defRPr>
            </a:lvl1pPr>
            <a:lvl2pPr marL="8001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600">
                <a:solidFill>
                  <a:schemeClr val="bg1"/>
                </a:solidFill>
                <a:latin typeface="+mn-lt"/>
              </a:defRPr>
            </a:lvl2pPr>
            <a:lvl3pPr marL="1257300" indent="-34290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400">
                <a:solidFill>
                  <a:schemeClr val="bg1"/>
                </a:solidFill>
                <a:latin typeface="+mn-lt"/>
              </a:defRPr>
            </a:lvl3pPr>
            <a:lvl4pPr marL="16573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4pPr>
            <a:lvl5pPr marL="2114550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802670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3">
            <a:extLst>
              <a:ext uri="{FF2B5EF4-FFF2-40B4-BE49-F238E27FC236}">
                <a16:creationId xmlns:a16="http://schemas.microsoft.com/office/drawing/2014/main" id="{4361F2FA-20C7-5447-C138-CE2CA1867FE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3" y="2"/>
            <a:ext cx="12191997" cy="6857998"/>
            <a:chOff x="3" y="2"/>
            <a:chExt cx="12191997" cy="6857998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DFEDD626-82E4-71C6-25F1-CDA46B7B3F39}"/>
                </a:ext>
              </a:extLst>
            </p:cNvPr>
            <p:cNvSpPr/>
            <p:nvPr/>
          </p:nvSpPr>
          <p:spPr>
            <a:xfrm>
              <a:off x="3" y="2"/>
              <a:ext cx="12191997" cy="6857998"/>
            </a:xfrm>
            <a:prstGeom prst="rect">
              <a:avLst/>
            </a:prstGeom>
            <a:gradFill flip="none" rotWithShape="1">
              <a:gsLst>
                <a:gs pos="0">
                  <a:srgbClr val="1A012C"/>
                </a:gs>
                <a:gs pos="45000">
                  <a:srgbClr val="1A012C">
                    <a:alpha val="50000"/>
                  </a:srgbClr>
                </a:gs>
                <a:gs pos="100000">
                  <a:schemeClr val="accent6">
                    <a:lumMod val="50000"/>
                    <a:alpha val="5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DC952AF-CE06-54F7-CB4A-1722F90AC3D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3" y="2"/>
              <a:ext cx="12191994" cy="6857996"/>
            </a:xfrm>
            <a:prstGeom prst="rect">
              <a:avLst/>
            </a:prstGeom>
          </p:spPr>
        </p:pic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6E6EDFF3-843B-AAE9-DB73-423142606F52}"/>
                </a:ext>
              </a:extLst>
            </p:cNvPr>
            <p:cNvGrpSpPr/>
            <p:nvPr/>
          </p:nvGrpSpPr>
          <p:grpSpPr>
            <a:xfrm rot="5400000">
              <a:off x="1645776" y="1222395"/>
              <a:ext cx="431603" cy="412684"/>
              <a:chOff x="1870859" y="869908"/>
              <a:chExt cx="431603" cy="412684"/>
            </a:xfrm>
          </p:grpSpPr>
          <p:sp>
            <p:nvSpPr>
              <p:cNvPr id="12" name="Graphic 15">
                <a:extLst>
                  <a:ext uri="{FF2B5EF4-FFF2-40B4-BE49-F238E27FC236}">
                    <a16:creationId xmlns:a16="http://schemas.microsoft.com/office/drawing/2014/main" id="{312F4F85-6C79-201D-E20D-64CD4728E4C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01D71DAD-ECC6-A850-88E4-A4EDCF494A2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14" name="Group 13">
              <a:extLst>
                <a:ext uri="{FF2B5EF4-FFF2-40B4-BE49-F238E27FC236}">
                  <a16:creationId xmlns:a16="http://schemas.microsoft.com/office/drawing/2014/main" id="{C632CC6D-6024-2368-8EBA-4B7A2D6428BC}"/>
                </a:ext>
              </a:extLst>
            </p:cNvPr>
            <p:cNvGrpSpPr/>
            <p:nvPr/>
          </p:nvGrpSpPr>
          <p:grpSpPr>
            <a:xfrm rot="20626702">
              <a:off x="10248169" y="5448942"/>
              <a:ext cx="431603" cy="412684"/>
              <a:chOff x="1870859" y="869908"/>
              <a:chExt cx="431603" cy="412684"/>
            </a:xfrm>
          </p:grpSpPr>
          <p:sp>
            <p:nvSpPr>
              <p:cNvPr id="6" name="Graphic 15">
                <a:extLst>
                  <a:ext uri="{FF2B5EF4-FFF2-40B4-BE49-F238E27FC236}">
                    <a16:creationId xmlns:a16="http://schemas.microsoft.com/office/drawing/2014/main" id="{B05BE7BE-7D54-A09B-8A67-6B28CF6BB6C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7" name="Graphic 12">
                <a:extLst>
                  <a:ext uri="{FF2B5EF4-FFF2-40B4-BE49-F238E27FC236}">
                    <a16:creationId xmlns:a16="http://schemas.microsoft.com/office/drawing/2014/main" id="{258346A9-F75C-6704-EEED-CF7A8A0F8010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782CC39D-03B1-4933-F236-462B5862EBE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932448" y="264160"/>
            <a:ext cx="6327105" cy="3373973"/>
          </a:xfrm>
        </p:spPr>
        <p:txBody>
          <a:bodyPr anchor="b"/>
          <a:lstStyle>
            <a:lvl1pPr algn="ctr">
              <a:defRPr sz="3200" cap="all" spc="60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F711CA51-49DC-62CA-F147-F286B1C9DBD9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2932448" y="3962135"/>
            <a:ext cx="6327105" cy="2653771"/>
          </a:xfrm>
        </p:spPr>
        <p:txBody>
          <a:bodyPr>
            <a:noAutofit/>
          </a:bodyPr>
          <a:lstStyle>
            <a:lvl1pPr marL="0" indent="0" algn="ctr">
              <a:buNone/>
              <a:defRPr sz="1800" b="0" i="0" cap="all" spc="300" baseline="0">
                <a:solidFill>
                  <a:schemeClr val="bg1"/>
                </a:solidFill>
                <a:latin typeface="+mj-lt"/>
                <a:cs typeface="Biome Light" panose="020B03030302040208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add subtitle</a:t>
            </a:r>
          </a:p>
        </p:txBody>
      </p:sp>
    </p:spTree>
    <p:extLst>
      <p:ext uri="{BB962C8B-B14F-4D97-AF65-F5344CB8AC3E}">
        <p14:creationId xmlns:p14="http://schemas.microsoft.com/office/powerpoint/2010/main" val="11183414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9C7D5518-914C-92E3-E9EC-26752C9F05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-1" y="-6350"/>
            <a:ext cx="12192000" cy="6864350"/>
            <a:chOff x="-1" y="-6350"/>
            <a:chExt cx="12192000" cy="6864350"/>
          </a:xfrm>
        </p:grpSpPr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82D0B82-F74C-65EF-3BF6-8EEA16F36B7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428750" y="-6350"/>
              <a:ext cx="10763249" cy="6864350"/>
            </a:xfrm>
            <a:prstGeom prst="rect">
              <a:avLst/>
            </a:prstGeom>
            <a:solidFill>
              <a:schemeClr val="tx1">
                <a:alpha val="7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>
              <a:noAutofit/>
            </a:bodyPr>
            <a:lstStyle/>
            <a:p>
              <a:pPr algn="ctr"/>
              <a:endParaRPr lang="en-US" dirty="0"/>
            </a:p>
          </p:txBody>
        </p:sp>
        <p:pic>
          <p:nvPicPr>
            <p:cNvPr id="6" name="Picture 5" descr="A blue and purple spiral&#10;&#10;Description automatically generated">
              <a:extLst>
                <a:ext uri="{FF2B5EF4-FFF2-40B4-BE49-F238E27FC236}">
                  <a16:creationId xmlns:a16="http://schemas.microsoft.com/office/drawing/2014/main" id="{44E12326-9CF4-38EC-1BAF-1F994F220899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b="-93"/>
            <a:stretch/>
          </p:blipFill>
          <p:spPr>
            <a:xfrm flipH="1">
              <a:off x="-1" y="0"/>
              <a:ext cx="1428751" cy="6858000"/>
            </a:xfrm>
            <a:prstGeom prst="rect">
              <a:avLst/>
            </a:prstGeom>
          </p:spPr>
        </p:pic>
        <p:grpSp>
          <p:nvGrpSpPr>
            <p:cNvPr id="7" name="Group 6">
              <a:extLst>
                <a:ext uri="{FF2B5EF4-FFF2-40B4-BE49-F238E27FC236}">
                  <a16:creationId xmlns:a16="http://schemas.microsoft.com/office/drawing/2014/main" id="{AD5C1D9C-B114-FC6A-9213-7287D39EAD9F}"/>
                </a:ext>
              </a:extLst>
            </p:cNvPr>
            <p:cNvGrpSpPr/>
            <p:nvPr/>
          </p:nvGrpSpPr>
          <p:grpSpPr>
            <a:xfrm>
              <a:off x="10649689" y="4382998"/>
              <a:ext cx="754139" cy="1865729"/>
              <a:chOff x="653351" y="2693558"/>
              <a:chExt cx="754139" cy="1865729"/>
            </a:xfrm>
          </p:grpSpPr>
          <p:sp>
            <p:nvSpPr>
              <p:cNvPr id="11" name="Graphic 15">
                <a:extLst>
                  <a:ext uri="{FF2B5EF4-FFF2-40B4-BE49-F238E27FC236}">
                    <a16:creationId xmlns:a16="http://schemas.microsoft.com/office/drawing/2014/main" id="{2BC89B10-C93E-8CE5-73B3-F6049168C31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098137" y="2693558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2" name="Graphic 12">
                <a:extLst>
                  <a:ext uri="{FF2B5EF4-FFF2-40B4-BE49-F238E27FC236}">
                    <a16:creationId xmlns:a16="http://schemas.microsoft.com/office/drawing/2014/main" id="{39DB2AA2-9661-AC91-932D-2F1BEC47BD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306906" y="3837599"/>
                <a:ext cx="100584" cy="100584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3" name="Graphic 12">
                <a:extLst>
                  <a:ext uri="{FF2B5EF4-FFF2-40B4-BE49-F238E27FC236}">
                    <a16:creationId xmlns:a16="http://schemas.microsoft.com/office/drawing/2014/main" id="{86C9AC9B-3792-E880-03FE-D46FB046AB6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653351" y="4521502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1142A133-65D6-D958-C0CD-E8D45B9BD7BB}"/>
                </a:ext>
              </a:extLst>
            </p:cNvPr>
            <p:cNvGrpSpPr/>
            <p:nvPr/>
          </p:nvGrpSpPr>
          <p:grpSpPr>
            <a:xfrm>
              <a:off x="1870859" y="869908"/>
              <a:ext cx="431603" cy="412684"/>
              <a:chOff x="1870859" y="869908"/>
              <a:chExt cx="431603" cy="412684"/>
            </a:xfrm>
          </p:grpSpPr>
          <p:sp>
            <p:nvSpPr>
              <p:cNvPr id="9" name="Graphic 15">
                <a:extLst>
                  <a:ext uri="{FF2B5EF4-FFF2-40B4-BE49-F238E27FC236}">
                    <a16:creationId xmlns:a16="http://schemas.microsoft.com/office/drawing/2014/main" id="{A746B023-387D-4EAC-052B-60F131E6E70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 rot="10800000">
                <a:off x="1870859" y="1154576"/>
                <a:ext cx="128016" cy="128016"/>
              </a:xfrm>
              <a:custGeom>
                <a:avLst/>
                <a:gdLst>
                  <a:gd name="connsiteX0" fmla="*/ 63857 w 127713"/>
                  <a:gd name="connsiteY0" fmla="*/ 18874 h 127713"/>
                  <a:gd name="connsiteX1" fmla="*/ 108839 w 127713"/>
                  <a:gd name="connsiteY1" fmla="*/ 63857 h 127713"/>
                  <a:gd name="connsiteX2" fmla="*/ 63857 w 127713"/>
                  <a:gd name="connsiteY2" fmla="*/ 108839 h 127713"/>
                  <a:gd name="connsiteX3" fmla="*/ 18874 w 127713"/>
                  <a:gd name="connsiteY3" fmla="*/ 63857 h 127713"/>
                  <a:gd name="connsiteX4" fmla="*/ 63857 w 127713"/>
                  <a:gd name="connsiteY4" fmla="*/ 18874 h 127713"/>
                  <a:gd name="connsiteX5" fmla="*/ 63857 w 127713"/>
                  <a:gd name="connsiteY5" fmla="*/ 0 h 127713"/>
                  <a:gd name="connsiteX6" fmla="*/ 0 w 127713"/>
                  <a:gd name="connsiteY6" fmla="*/ 63857 h 127713"/>
                  <a:gd name="connsiteX7" fmla="*/ 63857 w 127713"/>
                  <a:gd name="connsiteY7" fmla="*/ 127713 h 127713"/>
                  <a:gd name="connsiteX8" fmla="*/ 127713 w 127713"/>
                  <a:gd name="connsiteY8" fmla="*/ 63857 h 127713"/>
                  <a:gd name="connsiteX9" fmla="*/ 63857 w 127713"/>
                  <a:gd name="connsiteY9" fmla="*/ 0 h 12771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127713" h="127713">
                    <a:moveTo>
                      <a:pt x="63857" y="18874"/>
                    </a:moveTo>
                    <a:cubicBezTo>
                      <a:pt x="88700" y="18874"/>
                      <a:pt x="108839" y="39013"/>
                      <a:pt x="108839" y="63857"/>
                    </a:cubicBezTo>
                    <a:cubicBezTo>
                      <a:pt x="108839" y="88700"/>
                      <a:pt x="88700" y="108839"/>
                      <a:pt x="63857" y="108839"/>
                    </a:cubicBezTo>
                    <a:cubicBezTo>
                      <a:pt x="39013" y="108839"/>
                      <a:pt x="18874" y="88700"/>
                      <a:pt x="18874" y="63857"/>
                    </a:cubicBezTo>
                    <a:cubicBezTo>
                      <a:pt x="18898" y="39023"/>
                      <a:pt x="39023" y="18898"/>
                      <a:pt x="63857" y="18874"/>
                    </a:cubicBezTo>
                    <a:moveTo>
                      <a:pt x="63857" y="0"/>
                    </a:moveTo>
                    <a:cubicBezTo>
                      <a:pt x="28590" y="0"/>
                      <a:pt x="0" y="28590"/>
                      <a:pt x="0" y="63857"/>
                    </a:cubicBezTo>
                    <a:cubicBezTo>
                      <a:pt x="0" y="99124"/>
                      <a:pt x="28590" y="127713"/>
                      <a:pt x="63857" y="127713"/>
                    </a:cubicBezTo>
                    <a:cubicBezTo>
                      <a:pt x="99124" y="127713"/>
                      <a:pt x="127713" y="99124"/>
                      <a:pt x="127713" y="63857"/>
                    </a:cubicBezTo>
                    <a:cubicBezTo>
                      <a:pt x="127713" y="28590"/>
                      <a:pt x="99124" y="0"/>
                      <a:pt x="63857" y="0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610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  <p:sp>
            <p:nvSpPr>
              <p:cNvPr id="10" name="Graphic 12">
                <a:extLst>
                  <a:ext uri="{FF2B5EF4-FFF2-40B4-BE49-F238E27FC236}">
                    <a16:creationId xmlns:a16="http://schemas.microsoft.com/office/drawing/2014/main" id="{20760125-21CF-A296-3EA7-3C6C0E9BCB2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2256743" y="869908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</p:grp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7F851D11-41E3-33F2-CBA6-B2A9A5A2A51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2369139" y="2002443"/>
            <a:ext cx="88735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399620" y="162560"/>
            <a:ext cx="8843050" cy="1616904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2373002" y="2474811"/>
            <a:ext cx="4015098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21" name="Content Placeholder 4">
            <a:extLst>
              <a:ext uri="{FF2B5EF4-FFF2-40B4-BE49-F238E27FC236}">
                <a16:creationId xmlns:a16="http://schemas.microsoft.com/office/drawing/2014/main" id="{D77F99A7-26FA-422E-43E9-C76B4A56E44A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995159" y="2474811"/>
            <a:ext cx="4227332" cy="35283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7582842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8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3A7247A-846A-F316-B494-69B42CBF34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84B3AF6-983E-0901-0045-6CDF4E93E1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" name="Group 8">
            <a:extLst>
              <a:ext uri="{FF2B5EF4-FFF2-40B4-BE49-F238E27FC236}">
                <a16:creationId xmlns:a16="http://schemas.microsoft.com/office/drawing/2014/main" id="{3C5B7647-403E-A66E-6CF4-0D3A99AA51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0800000" flipH="1">
            <a:off x="10488530" y="4210019"/>
            <a:ext cx="754139" cy="1865729"/>
            <a:chOff x="653351" y="2693558"/>
            <a:chExt cx="754139" cy="1865729"/>
          </a:xfrm>
        </p:grpSpPr>
        <p:sp>
          <p:nvSpPr>
            <p:cNvPr id="10" name="Graphic 15">
              <a:extLst>
                <a:ext uri="{FF2B5EF4-FFF2-40B4-BE49-F238E27FC236}">
                  <a16:creationId xmlns:a16="http://schemas.microsoft.com/office/drawing/2014/main" id="{E48E731E-FEF1-9C59-64B0-9CB6E8853912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098137" y="2693558"/>
              <a:ext cx="128016" cy="128016"/>
            </a:xfrm>
            <a:custGeom>
              <a:avLst/>
              <a:gdLst>
                <a:gd name="connsiteX0" fmla="*/ 63857 w 127713"/>
                <a:gd name="connsiteY0" fmla="*/ 18874 h 127713"/>
                <a:gd name="connsiteX1" fmla="*/ 108839 w 127713"/>
                <a:gd name="connsiteY1" fmla="*/ 63857 h 127713"/>
                <a:gd name="connsiteX2" fmla="*/ 63857 w 127713"/>
                <a:gd name="connsiteY2" fmla="*/ 108839 h 127713"/>
                <a:gd name="connsiteX3" fmla="*/ 18874 w 127713"/>
                <a:gd name="connsiteY3" fmla="*/ 63857 h 127713"/>
                <a:gd name="connsiteX4" fmla="*/ 63857 w 127713"/>
                <a:gd name="connsiteY4" fmla="*/ 18874 h 127713"/>
                <a:gd name="connsiteX5" fmla="*/ 63857 w 127713"/>
                <a:gd name="connsiteY5" fmla="*/ 0 h 127713"/>
                <a:gd name="connsiteX6" fmla="*/ 0 w 127713"/>
                <a:gd name="connsiteY6" fmla="*/ 63857 h 127713"/>
                <a:gd name="connsiteX7" fmla="*/ 63857 w 127713"/>
                <a:gd name="connsiteY7" fmla="*/ 127713 h 127713"/>
                <a:gd name="connsiteX8" fmla="*/ 127713 w 127713"/>
                <a:gd name="connsiteY8" fmla="*/ 63857 h 127713"/>
                <a:gd name="connsiteX9" fmla="*/ 63857 w 127713"/>
                <a:gd name="connsiteY9" fmla="*/ 0 h 12771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27713" h="127713">
                  <a:moveTo>
                    <a:pt x="63857" y="18874"/>
                  </a:moveTo>
                  <a:cubicBezTo>
                    <a:pt x="88700" y="18874"/>
                    <a:pt x="108839" y="39013"/>
                    <a:pt x="108839" y="63857"/>
                  </a:cubicBezTo>
                  <a:cubicBezTo>
                    <a:pt x="108839" y="88700"/>
                    <a:pt x="88700" y="108839"/>
                    <a:pt x="63857" y="108839"/>
                  </a:cubicBezTo>
                  <a:cubicBezTo>
                    <a:pt x="39013" y="108839"/>
                    <a:pt x="18874" y="88700"/>
                    <a:pt x="18874" y="63857"/>
                  </a:cubicBezTo>
                  <a:cubicBezTo>
                    <a:pt x="18898" y="39023"/>
                    <a:pt x="39023" y="18898"/>
                    <a:pt x="63857" y="18874"/>
                  </a:cubicBezTo>
                  <a:moveTo>
                    <a:pt x="63857" y="0"/>
                  </a:moveTo>
                  <a:cubicBezTo>
                    <a:pt x="28590" y="0"/>
                    <a:pt x="0" y="28590"/>
                    <a:pt x="0" y="63857"/>
                  </a:cubicBezTo>
                  <a:cubicBezTo>
                    <a:pt x="0" y="99124"/>
                    <a:pt x="28590" y="127713"/>
                    <a:pt x="63857" y="127713"/>
                  </a:cubicBezTo>
                  <a:cubicBezTo>
                    <a:pt x="99124" y="127713"/>
                    <a:pt x="127713" y="99124"/>
                    <a:pt x="127713" y="63857"/>
                  </a:cubicBezTo>
                  <a:cubicBezTo>
                    <a:pt x="127713" y="28590"/>
                    <a:pt x="99124" y="0"/>
                    <a:pt x="63857" y="0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610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1" name="Graphic 12">
              <a:extLst>
                <a:ext uri="{FF2B5EF4-FFF2-40B4-BE49-F238E27FC236}">
                  <a16:creationId xmlns:a16="http://schemas.microsoft.com/office/drawing/2014/main" id="{AFE83BB3-4D12-8E20-CA93-1834D7F0A43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1306906" y="3837599"/>
              <a:ext cx="100584" cy="100584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  <p:sp>
          <p:nvSpPr>
            <p:cNvPr id="12" name="Graphic 12">
              <a:extLst>
                <a:ext uri="{FF2B5EF4-FFF2-40B4-BE49-F238E27FC236}">
                  <a16:creationId xmlns:a16="http://schemas.microsoft.com/office/drawing/2014/main" id="{3EB1D810-BC05-6C0E-0DE4-3604EBAADCC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/>
          </p:nvSpPr>
          <p:spPr>
            <a:xfrm>
              <a:off x="653351" y="4521502"/>
              <a:ext cx="45719" cy="37785"/>
            </a:xfrm>
            <a:custGeom>
              <a:avLst/>
              <a:gdLst>
                <a:gd name="connsiteX0" fmla="*/ 91138 w 91138"/>
                <a:gd name="connsiteY0" fmla="*/ 45569 h 91138"/>
                <a:gd name="connsiteX1" fmla="*/ 45569 w 91138"/>
                <a:gd name="connsiteY1" fmla="*/ 91138 h 91138"/>
                <a:gd name="connsiteX2" fmla="*/ 0 w 91138"/>
                <a:gd name="connsiteY2" fmla="*/ 45569 h 91138"/>
                <a:gd name="connsiteX3" fmla="*/ 45569 w 91138"/>
                <a:gd name="connsiteY3" fmla="*/ 0 h 91138"/>
                <a:gd name="connsiteX4" fmla="*/ 91138 w 91138"/>
                <a:gd name="connsiteY4" fmla="*/ 45569 h 911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91138" h="91138">
                  <a:moveTo>
                    <a:pt x="91138" y="45569"/>
                  </a:moveTo>
                  <a:cubicBezTo>
                    <a:pt x="91138" y="70736"/>
                    <a:pt x="70736" y="91138"/>
                    <a:pt x="45569" y="91138"/>
                  </a:cubicBezTo>
                  <a:cubicBezTo>
                    <a:pt x="20402" y="91138"/>
                    <a:pt x="0" y="70736"/>
                    <a:pt x="0" y="45569"/>
                  </a:cubicBezTo>
                  <a:cubicBezTo>
                    <a:pt x="0" y="20402"/>
                    <a:pt x="20402" y="0"/>
                    <a:pt x="45569" y="0"/>
                  </a:cubicBezTo>
                  <a:cubicBezTo>
                    <a:pt x="70736" y="0"/>
                    <a:pt x="91138" y="20402"/>
                    <a:pt x="91138" y="45569"/>
                  </a:cubicBezTo>
                  <a:close/>
                </a:path>
              </a:pathLst>
            </a:custGeom>
            <a:solidFill>
              <a:schemeClr val="accent4">
                <a:lumMod val="60000"/>
                <a:lumOff val="40000"/>
                <a:alpha val="49071"/>
              </a:schemeClr>
            </a:solidFill>
            <a:ln w="422" cap="flat">
              <a:noFill/>
              <a:prstDash val="solid"/>
              <a:miter/>
            </a:ln>
          </p:spPr>
          <p:txBody>
            <a:bodyPr rtlCol="0" anchor="ctr">
              <a:noAutofit/>
            </a:bodyPr>
            <a:lstStyle/>
            <a:p>
              <a:endParaRPr lang="en-US" dirty="0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41680" y="430482"/>
            <a:ext cx="10500989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2003C5A-BF21-DE87-0ED1-3E2D0F32B5D8}"/>
              </a:ext>
            </a:extLst>
          </p:cNvPr>
          <p:cNvSpPr>
            <a:spLocks noGrp="1"/>
          </p:cNvSpPr>
          <p:nvPr>
            <p:ph sz="quarter" idx="35" hasCustomPrompt="1"/>
          </p:nvPr>
        </p:nvSpPr>
        <p:spPr>
          <a:xfrm>
            <a:off x="807038" y="2465539"/>
            <a:ext cx="3774587" cy="3723753"/>
          </a:xfrm>
        </p:spPr>
        <p:txBody>
          <a:bodyPr/>
          <a:lstStyle>
            <a:lvl1pPr marL="342900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eriod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62636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eriod"/>
              <a:defRPr sz="1800" spc="0">
                <a:solidFill>
                  <a:schemeClr val="bg1"/>
                </a:solidFill>
                <a:latin typeface="+mn-lt"/>
              </a:defRPr>
            </a:lvl2pPr>
            <a:lvl3pPr marL="918972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rabicParenR"/>
              <a:defRPr sz="1800" spc="0">
                <a:solidFill>
                  <a:schemeClr val="bg1"/>
                </a:solidFill>
                <a:latin typeface="+mn-lt"/>
              </a:defRPr>
            </a:lvl3pPr>
            <a:lvl4pPr marL="1209294" indent="-34290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+mj-lt"/>
              <a:buAutoNum type="alphaLcParenR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4927600" y="2465539"/>
            <a:ext cx="6315069" cy="3723753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283464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2pPr>
            <a:lvl3pPr marL="566928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3pPr>
            <a:lvl4pPr marL="859536" indent="-285750">
              <a:lnSpc>
                <a:spcPct val="120000"/>
              </a:lnSpc>
              <a:spcBef>
                <a:spcPts val="1000"/>
              </a:spcBef>
              <a:buClr>
                <a:schemeClr val="accent3">
                  <a:lumMod val="75000"/>
                </a:schemeClr>
              </a:buClr>
              <a:buFont typeface="Arial" panose="020B0604020202020204" pitchFamily="34" charset="0"/>
              <a:buChar char="•"/>
              <a:defRPr sz="1800" spc="0">
                <a:solidFill>
                  <a:schemeClr val="bg1"/>
                </a:solidFill>
                <a:latin typeface="+mn-lt"/>
              </a:defRPr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662227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7123B0D0-B01D-0BB0-6127-A878BE49D1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6039728" y="-6350"/>
            <a:ext cx="6154615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889627" y="173736"/>
            <a:ext cx="4352662" cy="220370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6C363351-4779-B42E-ED7A-C4AF2920BABC}"/>
              </a:ext>
            </a:extLst>
          </p:cNvPr>
          <p:cNvSpPr>
            <a:spLocks noGrp="1"/>
          </p:cNvSpPr>
          <p:nvPr>
            <p:ph type="pic" sz="quarter" idx="37"/>
          </p:nvPr>
        </p:nvSpPr>
        <p:spPr>
          <a:xfrm>
            <a:off x="336550" y="336550"/>
            <a:ext cx="5303640" cy="6184900"/>
          </a:xfrm>
        </p:spPr>
        <p:txBody>
          <a:bodyPr/>
          <a:lstStyle>
            <a:lvl1pPr algn="ctr">
              <a:defRPr sz="2000"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6889627" y="3104277"/>
            <a:ext cx="4371560" cy="3022201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0712911-615E-724B-FC0F-996291526D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6889627" y="2679480"/>
            <a:ext cx="4352662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3308264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9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55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27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BCFFF0E2-6B47-67EB-D6AA-D972E7B7C36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-6350"/>
            <a:ext cx="4646951" cy="686435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 Nova"/>
              <a:ea typeface="+mn-ea"/>
              <a:cs typeface="+mn-cs"/>
            </a:endParaRPr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94827F6F-999F-23E9-8C09-325D1A76B0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80134"/>
            <a:ext cx="3114078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171396"/>
            <a:ext cx="3736630" cy="2202350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41716" y="3078480"/>
            <a:ext cx="3108193" cy="3047997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6"/>
              </a:buClr>
              <a:buFont typeface="Arial" panose="020B0604020202020204" pitchFamily="34" charset="0"/>
              <a:buNone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921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2pPr>
            <a:lvl3pPr marL="861822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3pPr>
            <a:lvl4pPr marL="1152144" indent="-285750">
              <a:lnSpc>
                <a:spcPct val="120000"/>
              </a:lnSpc>
              <a:spcBef>
                <a:spcPts val="1000"/>
              </a:spcBef>
              <a:spcAft>
                <a:spcPts val="600"/>
              </a:spcAft>
              <a:buClr>
                <a:schemeClr val="accent3"/>
              </a:buClr>
              <a:buFont typeface="Arial" panose="020B0604020202020204" pitchFamily="34" charset="0"/>
              <a:buChar char="•"/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2" name="Table Placeholder 11">
            <a:extLst>
              <a:ext uri="{FF2B5EF4-FFF2-40B4-BE49-F238E27FC236}">
                <a16:creationId xmlns:a16="http://schemas.microsoft.com/office/drawing/2014/main" id="{D360C16C-E69B-FDEF-F033-CA9A2E238288}"/>
              </a:ext>
            </a:extLst>
          </p:cNvPr>
          <p:cNvSpPr>
            <a:spLocks noGrp="1"/>
          </p:cNvSpPr>
          <p:nvPr>
            <p:ph type="tbl" sz="quarter" idx="37"/>
          </p:nvPr>
        </p:nvSpPr>
        <p:spPr>
          <a:xfrm>
            <a:off x="5067300" y="404813"/>
            <a:ext cx="6705600" cy="6048375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390721985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0_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4196A82D-0723-4BA3-0283-9F0D67B0CEF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0"/>
            <a:ext cx="12191999" cy="6858000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6A20A5FD-BDFB-45F2-E644-E93FB81CA5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416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33562" y="433906"/>
            <a:ext cx="10515601" cy="1327464"/>
          </a:xfrm>
        </p:spPr>
        <p:txBody>
          <a:bodyPr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9" name="Content Placeholder 4">
            <a:extLst>
              <a:ext uri="{FF2B5EF4-FFF2-40B4-BE49-F238E27FC236}">
                <a16:creationId xmlns:a16="http://schemas.microsoft.com/office/drawing/2014/main" id="{39870F08-C2AE-9AF7-58DE-EEA8A48BEDA9}"/>
              </a:ext>
            </a:extLst>
          </p:cNvPr>
          <p:cNvSpPr>
            <a:spLocks noGrp="1"/>
          </p:cNvSpPr>
          <p:nvPr>
            <p:ph sz="quarter" idx="36" hasCustomPrompt="1"/>
          </p:nvPr>
        </p:nvSpPr>
        <p:spPr>
          <a:xfrm>
            <a:off x="814302" y="2465535"/>
            <a:ext cx="7303538" cy="3427265"/>
          </a:xfrm>
        </p:spPr>
        <p:txBody>
          <a:bodyPr/>
          <a:lstStyle>
            <a:lvl1pPr marL="283464" indent="-283464"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buFont typeface="Arial" panose="020B0604020202020204" pitchFamily="34" charset="0"/>
              <a:buChar char="•"/>
              <a:defRPr sz="1800" spc="0" baseline="0">
                <a:solidFill>
                  <a:schemeClr val="bg1"/>
                </a:solidFill>
                <a:latin typeface="+mn-lt"/>
              </a:defRPr>
            </a:lvl1pPr>
            <a:lvl2pPr marL="566928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2pPr>
            <a:lvl3pPr marL="859536" indent="-28346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3pPr>
            <a:lvl4pPr marL="1152144">
              <a:lnSpc>
                <a:spcPct val="120000"/>
              </a:lnSpc>
              <a:spcBef>
                <a:spcPts val="500"/>
              </a:spcBef>
              <a:buClr>
                <a:schemeClr val="accent3"/>
              </a:buClr>
              <a:defRPr sz="1800" spc="0"/>
            </a:lvl4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4E7FC75E-AA73-003E-D4E3-B1819886AF9C}"/>
              </a:ext>
            </a:extLst>
          </p:cNvPr>
          <p:cNvSpPr>
            <a:spLocks noGrp="1"/>
          </p:cNvSpPr>
          <p:nvPr>
            <p:ph sz="quarter" idx="37" hasCustomPrompt="1"/>
          </p:nvPr>
        </p:nvSpPr>
        <p:spPr>
          <a:xfrm>
            <a:off x="8392160" y="2465388"/>
            <a:ext cx="2856865" cy="3427412"/>
          </a:xfrm>
        </p:spPr>
        <p:txBody>
          <a:bodyPr/>
          <a:lstStyle>
            <a:lvl1pPr marL="0" indent="0">
              <a:lnSpc>
                <a:spcPct val="12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>
                <a:solidFill>
                  <a:schemeClr val="bg1"/>
                </a:solidFill>
                <a:latin typeface="+mn-lt"/>
              </a:defRPr>
            </a:lvl1pPr>
            <a:lvl2pPr marL="457200" indent="0">
              <a:lnSpc>
                <a:spcPct val="120000"/>
              </a:lnSpc>
              <a:spcBef>
                <a:spcPts val="1000"/>
              </a:spcBef>
              <a:buNone/>
              <a:defRPr sz="1600">
                <a:solidFill>
                  <a:schemeClr val="bg1"/>
                </a:solidFill>
                <a:latin typeface="+mn-lt"/>
              </a:defRPr>
            </a:lvl2pPr>
            <a:lvl3pPr marL="914400" indent="0">
              <a:lnSpc>
                <a:spcPct val="120000"/>
              </a:lnSpc>
              <a:spcBef>
                <a:spcPts val="1000"/>
              </a:spcBef>
              <a:buNone/>
              <a:defRPr sz="1400">
                <a:solidFill>
                  <a:schemeClr val="bg1"/>
                </a:solidFill>
                <a:latin typeface="+mn-lt"/>
              </a:defRPr>
            </a:lvl3pPr>
            <a:lvl4pPr marL="13716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4pPr>
            <a:lvl5pPr marL="1828800" indent="0">
              <a:lnSpc>
                <a:spcPct val="120000"/>
              </a:lnSpc>
              <a:spcBef>
                <a:spcPts val="1000"/>
              </a:spcBef>
              <a:buNone/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text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4561196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">
    <p:bg>
      <p:bgPr>
        <a:gradFill>
          <a:gsLst>
            <a:gs pos="100000">
              <a:schemeClr val="tx2"/>
            </a:gs>
            <a:gs pos="81000">
              <a:schemeClr val="accent6"/>
            </a:gs>
            <a:gs pos="31000">
              <a:srgbClr val="02090E"/>
            </a:gs>
            <a:gs pos="14000">
              <a:schemeClr val="accent4">
                <a:lumMod val="75000"/>
              </a:schemeClr>
            </a:gs>
            <a:gs pos="0">
              <a:schemeClr val="accent4"/>
            </a:gs>
          </a:gsLst>
          <a:lin ang="7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02D51531-1219-2E4B-DCE7-C6FD9D809F0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321869" y="343814"/>
            <a:ext cx="11550701" cy="6210605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EC02E56-87A4-158A-F0B0-DB8E9BE3AE5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91547"/>
            <a:ext cx="10546763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>
            <a:extLst>
              <a:ext uri="{FF2B5EF4-FFF2-40B4-BE49-F238E27FC236}">
                <a16:creationId xmlns:a16="http://schemas.microsoft.com/office/drawing/2014/main" id="{DF8070BB-B3B5-3A8A-2466-D661C741794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370" y="643842"/>
            <a:ext cx="10515601" cy="1140849"/>
          </a:xfrm>
        </p:spPr>
        <p:txBody>
          <a:bodyPr lIns="0" anchor="b">
            <a:noAutofit/>
          </a:bodyPr>
          <a:lstStyle>
            <a:lvl1pPr algn="l">
              <a:defRPr sz="3200" cap="all" spc="0" baseline="0">
                <a:solidFill>
                  <a:schemeClr val="accent3">
                    <a:lumMod val="75000"/>
                  </a:schemeClr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0" name="Table Placeholder 9">
            <a:extLst>
              <a:ext uri="{FF2B5EF4-FFF2-40B4-BE49-F238E27FC236}">
                <a16:creationId xmlns:a16="http://schemas.microsoft.com/office/drawing/2014/main" id="{471D7DE3-05F5-8052-02FA-6EF9717E15BE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835025" y="2560638"/>
            <a:ext cx="10515600" cy="3478212"/>
          </a:xfrm>
        </p:spPr>
        <p:txBody>
          <a:bodyPr/>
          <a:lstStyle>
            <a:lvl1pPr>
              <a:defRPr sz="2400">
                <a:latin typeface="+mn-lt"/>
              </a:defRPr>
            </a:lvl1pPr>
          </a:lstStyle>
          <a:p>
            <a:r>
              <a:rPr lang="en-US"/>
              <a:t>Click icon to add table</a:t>
            </a:r>
            <a:endParaRPr lang="en-US" dirty="0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6468DE94-FC46-A848-7949-ABFEADADEA1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07039" y="1983705"/>
            <a:ext cx="10435630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Footer Placeholder 4">
            <a:extLst>
              <a:ext uri="{FF2B5EF4-FFF2-40B4-BE49-F238E27FC236}">
                <a16:creationId xmlns:a16="http://schemas.microsoft.com/office/drawing/2014/main" id="{B02A6961-FD29-3446-6A70-B0D4EE5D14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36405" y="6237287"/>
            <a:ext cx="4114800" cy="365125"/>
          </a:xfrm>
        </p:spPr>
        <p:txBody>
          <a:bodyPr>
            <a:noAutofit/>
          </a:bodyPr>
          <a:lstStyle>
            <a:lvl1pPr algn="l">
              <a:defRPr sz="1200" spc="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68477A85-1CCD-1BF5-8FF0-11B80AE2F6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>
            <a:noAutofit/>
          </a:bodyPr>
          <a:lstStyle>
            <a:lvl1pPr>
              <a:defRPr sz="1200">
                <a:solidFill>
                  <a:schemeClr val="bg1"/>
                </a:solidFill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4591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">
    <p:bg>
      <p:bgPr>
        <a:gradFill>
          <a:gsLst>
            <a:gs pos="81987">
              <a:schemeClr val="accent6">
                <a:lumMod val="50000"/>
              </a:schemeClr>
            </a:gs>
            <a:gs pos="35040">
              <a:srgbClr val="020B11"/>
            </a:gs>
            <a:gs pos="11979">
              <a:schemeClr val="accent4">
                <a:lumMod val="50000"/>
              </a:schemeClr>
            </a:gs>
            <a:gs pos="0">
              <a:schemeClr val="accent4"/>
            </a:gs>
            <a:gs pos="99000">
              <a:schemeClr val="tx2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>
            <a:extLst>
              <a:ext uri="{FF2B5EF4-FFF2-40B4-BE49-F238E27FC236}">
                <a16:creationId xmlns:a16="http://schemas.microsoft.com/office/drawing/2014/main" id="{289F5C3D-E9E6-75E0-BF7D-799B5CFE5E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4575462" y="4137"/>
            <a:ext cx="7616537" cy="6853863"/>
            <a:chOff x="4575462" y="4137"/>
            <a:chExt cx="7616537" cy="6853863"/>
          </a:xfrm>
        </p:grpSpPr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CDE1D2C2-40C4-6B80-E8C6-B4CE94C23037}"/>
                </a:ext>
              </a:extLst>
            </p:cNvPr>
            <p:cNvGrpSpPr/>
            <p:nvPr/>
          </p:nvGrpSpPr>
          <p:grpSpPr>
            <a:xfrm>
              <a:off x="4575462" y="691665"/>
              <a:ext cx="364018" cy="857035"/>
              <a:chOff x="468157" y="1144246"/>
              <a:chExt cx="364018" cy="857035"/>
            </a:xfrm>
          </p:grpSpPr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7C904D88-E1BE-F1FA-D405-F55DA966DA84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705405" y="1144246"/>
                <a:ext cx="126770" cy="126770"/>
              </a:xfrm>
              <a:prstGeom prst="ellipse">
                <a:avLst/>
              </a:prstGeom>
              <a:noFill/>
              <a:ln>
                <a:solidFill>
                  <a:schemeClr val="accent4">
                    <a:lumMod val="60000"/>
                    <a:lumOff val="40000"/>
                    <a:alpha val="49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>
                <a:noAutofit/>
              </a:bodyPr>
              <a:lstStyle/>
              <a:p>
                <a:pPr algn="ctr"/>
                <a:endParaRPr lang="en-US" dirty="0"/>
              </a:p>
            </p:txBody>
          </p:sp>
          <p:sp>
            <p:nvSpPr>
              <p:cNvPr id="18" name="Graphic 12">
                <a:extLst>
                  <a:ext uri="{FF2B5EF4-FFF2-40B4-BE49-F238E27FC236}">
                    <a16:creationId xmlns:a16="http://schemas.microsoft.com/office/drawing/2014/main" id="{1D8F0816-C429-D32E-058B-33405874DFA7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468157" y="1963496"/>
                <a:ext cx="45719" cy="37785"/>
              </a:xfrm>
              <a:custGeom>
                <a:avLst/>
                <a:gdLst>
                  <a:gd name="connsiteX0" fmla="*/ 91138 w 91138"/>
                  <a:gd name="connsiteY0" fmla="*/ 45569 h 91138"/>
                  <a:gd name="connsiteX1" fmla="*/ 45569 w 91138"/>
                  <a:gd name="connsiteY1" fmla="*/ 91138 h 91138"/>
                  <a:gd name="connsiteX2" fmla="*/ 0 w 91138"/>
                  <a:gd name="connsiteY2" fmla="*/ 45569 h 91138"/>
                  <a:gd name="connsiteX3" fmla="*/ 45569 w 91138"/>
                  <a:gd name="connsiteY3" fmla="*/ 0 h 91138"/>
                  <a:gd name="connsiteX4" fmla="*/ 91138 w 91138"/>
                  <a:gd name="connsiteY4" fmla="*/ 45569 h 911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91138" h="91138">
                    <a:moveTo>
                      <a:pt x="91138" y="45569"/>
                    </a:moveTo>
                    <a:cubicBezTo>
                      <a:pt x="91138" y="70736"/>
                      <a:pt x="70736" y="91138"/>
                      <a:pt x="45569" y="91138"/>
                    </a:cubicBezTo>
                    <a:cubicBezTo>
                      <a:pt x="20402" y="91138"/>
                      <a:pt x="0" y="70736"/>
                      <a:pt x="0" y="45569"/>
                    </a:cubicBezTo>
                    <a:cubicBezTo>
                      <a:pt x="0" y="20402"/>
                      <a:pt x="20402" y="0"/>
                      <a:pt x="45569" y="0"/>
                    </a:cubicBezTo>
                    <a:cubicBezTo>
                      <a:pt x="70736" y="0"/>
                      <a:pt x="91138" y="20402"/>
                      <a:pt x="91138" y="45569"/>
                    </a:cubicBezTo>
                    <a:close/>
                  </a:path>
                </a:pathLst>
              </a:custGeom>
              <a:solidFill>
                <a:schemeClr val="accent4">
                  <a:lumMod val="60000"/>
                  <a:lumOff val="40000"/>
                  <a:alpha val="49071"/>
                </a:schemeClr>
              </a:solidFill>
              <a:ln w="422" cap="flat">
                <a:noFill/>
                <a:prstDash val="solid"/>
                <a:miter/>
              </a:ln>
            </p:spPr>
            <p:txBody>
              <a:bodyPr rtlCol="0" anchor="ctr">
                <a:noAutofit/>
              </a:bodyPr>
              <a:lstStyle/>
              <a:p>
                <a:endParaRPr lang="en-US" dirty="0"/>
              </a:p>
            </p:txBody>
          </p:sp>
        </p:grpSp>
        <p:pic>
          <p:nvPicPr>
            <p:cNvPr id="4" name="Content Placeholder 14">
              <a:extLst>
                <a:ext uri="{FF2B5EF4-FFF2-40B4-BE49-F238E27FC236}">
                  <a16:creationId xmlns:a16="http://schemas.microsoft.com/office/drawing/2014/main" id="{14AC0A97-7D79-3DBE-FB53-A9EBFD806E0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PicPr>
              <a:picLocks noChangeAspect="1"/>
            </p:cNvPicPr>
            <p:nvPr userDrawn="1"/>
          </p:nvPicPr>
          <p:blipFill rotWithShape="1"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/>
          </p:blipFill>
          <p:spPr>
            <a:xfrm>
              <a:off x="6542796" y="4137"/>
              <a:ext cx="5649203" cy="6853863"/>
            </a:xfrm>
            <a:prstGeom prst="rect">
              <a:avLst/>
            </a:prstGeom>
          </p:spPr>
        </p:pic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51E83F98-B388-2594-BACB-E3DB652C97D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5831" y="173735"/>
            <a:ext cx="4409514" cy="2203704"/>
          </a:xfrm>
        </p:spPr>
        <p:txBody>
          <a:bodyPr anchor="b">
            <a:noAutofit/>
          </a:bodyPr>
          <a:lstStyle>
            <a:lvl1pPr>
              <a:defRPr sz="3200" cap="all" baseline="0">
                <a:solidFill>
                  <a:schemeClr val="accent3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D9D0F3E-69D8-49F3-5D7A-71FDC4E3EEE3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831850" y="3079119"/>
            <a:ext cx="4413250" cy="2752725"/>
          </a:xfrm>
        </p:spPr>
        <p:txBody>
          <a:bodyPr/>
          <a:lstStyle>
            <a:lvl1pPr>
              <a:lnSpc>
                <a:spcPct val="120000"/>
              </a:lnSpc>
              <a:spcBef>
                <a:spcPts val="1000"/>
              </a:spcBef>
              <a:defRPr sz="1800">
                <a:solidFill>
                  <a:schemeClr val="bg1"/>
                </a:solidFill>
                <a:latin typeface="+mn-lt"/>
              </a:defRPr>
            </a:lvl1pPr>
            <a:lvl2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600">
                <a:solidFill>
                  <a:schemeClr val="bg1"/>
                </a:solidFill>
                <a:latin typeface="+mn-lt"/>
              </a:defRPr>
            </a:lvl2pPr>
            <a:lvl3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400">
                <a:solidFill>
                  <a:schemeClr val="bg1"/>
                </a:solidFill>
                <a:latin typeface="+mn-lt"/>
              </a:defRPr>
            </a:lvl3pPr>
            <a:lvl4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4pPr>
            <a:lvl5pPr>
              <a:lnSpc>
                <a:spcPct val="120000"/>
              </a:lnSpc>
              <a:spcBef>
                <a:spcPts val="1000"/>
              </a:spcBef>
              <a:buClr>
                <a:schemeClr val="accent3"/>
              </a:buClr>
              <a:defRPr sz="1200">
                <a:solidFill>
                  <a:schemeClr val="bg1"/>
                </a:solidFill>
                <a:latin typeface="+mn-lt"/>
              </a:defRPr>
            </a:lvl5pPr>
          </a:lstStyle>
          <a:p>
            <a:pPr lvl="0"/>
            <a:r>
              <a:rPr lang="en-US" dirty="0"/>
              <a:t>Click to add content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61CFC792-44F7-2497-E19D-8FB08AFF94F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 userDrawn="1"/>
        </p:nvCxnSpPr>
        <p:spPr>
          <a:xfrm>
            <a:off x="835831" y="2679192"/>
            <a:ext cx="4101929" cy="0"/>
          </a:xfrm>
          <a:prstGeom prst="line">
            <a:avLst/>
          </a:prstGeom>
          <a:ln w="25400">
            <a:gradFill>
              <a:gsLst>
                <a:gs pos="0">
                  <a:schemeClr val="accent4">
                    <a:lumMod val="50000"/>
                  </a:schemeClr>
                </a:gs>
                <a:gs pos="100000">
                  <a:schemeClr val="accent6"/>
                </a:gs>
              </a:gsLst>
              <a:lin ang="10800000" scaled="0"/>
            </a:gra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82607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tx1"/>
            </a:gs>
            <a:gs pos="99000">
              <a:srgbClr val="05202E"/>
            </a:gs>
          </a:gsLst>
          <a:lin ang="5400000" scaled="1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C3EA418-19D1-0D4D-BE52-40A86E32FBF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2BAE0C-5187-A64D-A481-E6924567035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759C05-48F5-9346-8256-5B61C6990EC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175D63-7351-9C4A-AEE0-10E27B3B64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350889F-2BBA-5F45-95BC-BEA66881675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sz="1200">
                <a:solidFill>
                  <a:schemeClr val="bg1"/>
                </a:solidFill>
                <a:latin typeface="+mj-lt"/>
                <a:cs typeface="Biome" panose="020B0503030204020804" pitchFamily="34" charset="0"/>
              </a:defRPr>
            </a:lvl1pPr>
          </a:lstStyle>
          <a:p>
            <a:fld id="{FE024F78-56A6-7740-B68D-8D4D026EDF3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569319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79" r:id="rId2"/>
    <p:sldLayoutId id="2147483669" r:id="rId3"/>
    <p:sldLayoutId id="2147483672" r:id="rId4"/>
    <p:sldLayoutId id="2147483673" r:id="rId5"/>
    <p:sldLayoutId id="2147483674" r:id="rId6"/>
    <p:sldLayoutId id="2147483671" r:id="rId7"/>
    <p:sldLayoutId id="2147483675" r:id="rId8"/>
    <p:sldLayoutId id="2147483676" r:id="rId9"/>
    <p:sldLayoutId id="2147483670" r:id="rId10"/>
    <p:sldLayoutId id="2147483677" r:id="rId11"/>
    <p:sldLayoutId id="2147483678" r:id="rId12"/>
    <p:sldLayoutId id="2147483664" r:id="rId13"/>
    <p:sldLayoutId id="2147483663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 spc="300" baseline="0">
          <a:solidFill>
            <a:schemeClr val="bg1"/>
          </a:solidFill>
          <a:latin typeface="+mj-lt"/>
          <a:ea typeface="+mj-ea"/>
          <a:cs typeface="Biome" panose="020B0503030204020804" pitchFamily="34" charset="0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kern="1200">
          <a:solidFill>
            <a:schemeClr val="accent3"/>
          </a:solidFill>
          <a:latin typeface="+mj-lt"/>
          <a:ea typeface="+mn-ea"/>
          <a:cs typeface="Biome" panose="020B0503030204020804" pitchFamily="34" charset="0"/>
        </a:defRPr>
      </a:lvl1pPr>
      <a:lvl2pPr marL="8001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573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114550" indent="-285750" algn="l" defTabSz="914400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9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1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97874EA-2F67-60CD-631F-5A787057F8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515601" cy="1327464"/>
          </a:xfrm>
        </p:spPr>
        <p:txBody>
          <a:bodyPr anchor="b">
            <a:normAutofit/>
          </a:bodyPr>
          <a:lstStyle/>
          <a:p>
            <a:pPr algn="ctr"/>
            <a:r>
              <a:rPr lang="en-US" dirty="0"/>
              <a:t>Student Performance Dashboard</a:t>
            </a:r>
          </a:p>
        </p:txBody>
      </p:sp>
      <p:sp>
        <p:nvSpPr>
          <p:cNvPr id="9" name="Subtitle 3">
            <a:extLst>
              <a:ext uri="{FF2B5EF4-FFF2-40B4-BE49-F238E27FC236}">
                <a16:creationId xmlns:a16="http://schemas.microsoft.com/office/drawing/2014/main" id="{2981AB9E-AF0F-CAD0-2DD2-D640FB871E66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2135102" y="2512990"/>
            <a:ext cx="7303538" cy="3427265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US" sz="2000" b="1" dirty="0"/>
              <a:t>Final Project – DEPI</a:t>
            </a:r>
          </a:p>
          <a:p>
            <a:pPr algn="ctr"/>
            <a:endParaRPr lang="en-US" dirty="0"/>
          </a:p>
          <a:p>
            <a:pPr marL="0" indent="0" algn="ctr">
              <a:buNone/>
            </a:pPr>
            <a:r>
              <a:rPr lang="en-US" b="1" dirty="0"/>
              <a:t>Team Members</a:t>
            </a:r>
          </a:p>
          <a:p>
            <a:pPr algn="ctr"/>
            <a:r>
              <a:rPr lang="en-US" dirty="0"/>
              <a:t>Mohamed Wael Mohamed (Team Leader)</a:t>
            </a:r>
          </a:p>
          <a:p>
            <a:pPr algn="ctr"/>
            <a:r>
              <a:rPr lang="en-US" dirty="0"/>
              <a:t>Mohamed Atef Ibrahem</a:t>
            </a:r>
          </a:p>
          <a:p>
            <a:pPr algn="ctr"/>
            <a:r>
              <a:rPr lang="en-US" dirty="0"/>
              <a:t>Seif Mohamed Helmy Ahmed</a:t>
            </a:r>
          </a:p>
          <a:p>
            <a:pPr algn="ctr"/>
            <a:r>
              <a:rPr lang="en-US" dirty="0"/>
              <a:t>Nourhan Mohamed Ahmed</a:t>
            </a:r>
          </a:p>
        </p:txBody>
      </p:sp>
      <p:pic>
        <p:nvPicPr>
          <p:cNvPr id="3" name="Picture 2" descr="A logo of a globe and a graduation cap&#10;&#10;AI-generated content may be incorrect.">
            <a:extLst>
              <a:ext uri="{FF2B5EF4-FFF2-40B4-BE49-F238E27FC236}">
                <a16:creationId xmlns:a16="http://schemas.microsoft.com/office/drawing/2014/main" id="{1EFDA17D-F544-5E55-C249-85C0E1B25B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87649" y="261597"/>
            <a:ext cx="1496522" cy="1489870"/>
          </a:xfrm>
          <a:prstGeom prst="rect">
            <a:avLst/>
          </a:prstGeom>
          <a:noFill/>
          <a:ln>
            <a:noFill/>
          </a:ln>
          <a:effectLst>
            <a:softEdge rad="112500"/>
          </a:effectLst>
        </p:spPr>
      </p:pic>
      <p:sp>
        <p:nvSpPr>
          <p:cNvPr id="17" name="Slide Number Placeholder 3">
            <a:extLst>
              <a:ext uri="{FF2B5EF4-FFF2-40B4-BE49-F238E27FC236}">
                <a16:creationId xmlns:a16="http://schemas.microsoft.com/office/drawing/2014/main" id="{5F1C1F93-5D02-389D-ABED-D838F5B6F7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0314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9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9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9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9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9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2458FF-0D0C-4ACC-C6FB-103BC0BAD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 anchor="b">
            <a:normAutofit/>
          </a:bodyPr>
          <a:lstStyle/>
          <a:p>
            <a:r>
              <a:rPr lang="en-US" dirty="0"/>
              <a:t>📋 Agenda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F1239C0E-3F39-787D-0FC3-6B7C9BA37E8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920490"/>
          </a:xfrm>
        </p:spPr>
        <p:txBody>
          <a:bodyPr>
            <a:normAutofit/>
          </a:bodyPr>
          <a:lstStyle/>
          <a:p>
            <a:r>
              <a:rPr lang="en-US" dirty="0"/>
              <a:t>Project Overview</a:t>
            </a:r>
          </a:p>
          <a:p>
            <a:r>
              <a:rPr lang="en-US" dirty="0"/>
              <a:t>Objectives</a:t>
            </a:r>
          </a:p>
          <a:p>
            <a:r>
              <a:rPr lang="en-US" dirty="0"/>
              <a:t>Tools &amp; Technologies</a:t>
            </a:r>
          </a:p>
          <a:p>
            <a:r>
              <a:rPr lang="en-US" dirty="0"/>
              <a:t>Data Analysis &amp; SQL Queries</a:t>
            </a:r>
          </a:p>
          <a:p>
            <a:r>
              <a:rPr lang="en-US" dirty="0"/>
              <a:t>Visualization Dashboard</a:t>
            </a:r>
          </a:p>
          <a:p>
            <a:r>
              <a:rPr lang="en-US" dirty="0"/>
              <a:t>Data Modeling &amp; Pipeline Architecture (DBT + </a:t>
            </a:r>
            <a:r>
              <a:rPr lang="en-US" dirty="0" err="1"/>
              <a:t>DuckDB</a:t>
            </a:r>
            <a:r>
              <a:rPr lang="en-US" dirty="0"/>
              <a:t>)</a:t>
            </a:r>
          </a:p>
          <a:p>
            <a:r>
              <a:rPr lang="en-US" dirty="0"/>
              <a:t>Conclusion &amp; Takeaways</a:t>
            </a:r>
          </a:p>
        </p:txBody>
      </p:sp>
      <p:sp>
        <p:nvSpPr>
          <p:cNvPr id="36" name="Slide Number Placeholder 3">
            <a:extLst>
              <a:ext uri="{FF2B5EF4-FFF2-40B4-BE49-F238E27FC236}">
                <a16:creationId xmlns:a16="http://schemas.microsoft.com/office/drawing/2014/main" id="{26AA6B1E-A4F6-A017-1935-DFC689A713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015933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1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17F7C5-CBA2-9823-0CBA-5BD7739980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 anchor="b">
            <a:normAutofit/>
          </a:bodyPr>
          <a:lstStyle/>
          <a:p>
            <a:r>
              <a:rPr lang="en-US" dirty="0"/>
              <a:t>Project Overview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260D053B-A40A-3228-B6D5-3371B9EE2E56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3676649"/>
          </a:xfrm>
        </p:spPr>
        <p:txBody>
          <a:bodyPr>
            <a:normAutofit/>
          </a:bodyPr>
          <a:lstStyle/>
          <a:p>
            <a:r>
              <a:rPr lang="en-US" dirty="0"/>
              <a:t>This project analyzes student performance data to identify academic patterns and key factors affecting student outcomes. By building a data-driven dashboard, the system helps educators monitor GPA trends, attendance behavior, and performance categories to support informed decision-making.</a:t>
            </a:r>
          </a:p>
          <a:p>
            <a:r>
              <a:rPr lang="en-US" dirty="0"/>
              <a:t>Using Python, SQL , </a:t>
            </a:r>
            <a:r>
              <a:rPr lang="en-US" dirty="0" err="1"/>
              <a:t>Duckdb</a:t>
            </a:r>
            <a:r>
              <a:rPr lang="en-US" dirty="0"/>
              <a:t> , DBT and visualization tools, we developed a clear and data-driven dashboard that supports early detection of at-risk students and enhances overall academic outcomes.</a:t>
            </a:r>
          </a:p>
        </p:txBody>
      </p:sp>
      <p:sp>
        <p:nvSpPr>
          <p:cNvPr id="11" name="Slide Number Placeholder 4">
            <a:extLst>
              <a:ext uri="{FF2B5EF4-FFF2-40B4-BE49-F238E27FC236}">
                <a16:creationId xmlns:a16="http://schemas.microsoft.com/office/drawing/2014/main" id="{E4FE1DD9-1CB8-1A93-F2CF-504A96C6A0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  <p:sp>
        <p:nvSpPr>
          <p:cNvPr id="3" name="Slide Number Placeholder 2" hidden="1">
            <a:extLst>
              <a:ext uri="{FF2B5EF4-FFF2-40B4-BE49-F238E27FC236}">
                <a16:creationId xmlns:a16="http://schemas.microsoft.com/office/drawing/2014/main" id="{A6A971A9-0C5C-DDFC-67F9-2E5A55F12F67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7193754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3FEFE388-CD0B-9671-4D4E-D6D8004C885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 anchor="b">
            <a:normAutofit/>
          </a:bodyPr>
          <a:lstStyle/>
          <a:p>
            <a:r>
              <a:rPr lang="en-US" dirty="0"/>
              <a:t>🎯 Project Objectives</a:t>
            </a:r>
          </a:p>
        </p:txBody>
      </p:sp>
      <p:pic>
        <p:nvPicPr>
          <p:cNvPr id="8" name="Picture Placeholder 7" descr="A blue and purple spirals">
            <a:extLst>
              <a:ext uri="{FF2B5EF4-FFF2-40B4-BE49-F238E27FC236}">
                <a16:creationId xmlns:a16="http://schemas.microsoft.com/office/drawing/2014/main" id="{E1DBD4C7-D952-4426-40FD-8799F80F821F}"/>
              </a:ext>
            </a:extLst>
          </p:cNvPr>
          <p:cNvPicPr>
            <a:picLocks noGrp="1" noChangeAspect="1"/>
          </p:cNvPicPr>
          <p:nvPr>
            <p:ph sz="quarter" idx="35"/>
          </p:nvPr>
        </p:nvPicPr>
        <p:blipFill>
          <a:blip r:embed="rId3"/>
          <a:srcRect t="948" r="3" b="14213"/>
          <a:stretch>
            <a:fillRect/>
          </a:stretch>
        </p:blipFill>
        <p:spPr>
          <a:xfrm>
            <a:off x="807038" y="2465539"/>
            <a:ext cx="3774587" cy="3723753"/>
          </a:xfrm>
          <a:noFill/>
        </p:spPr>
      </p:pic>
      <p:sp>
        <p:nvSpPr>
          <p:cNvPr id="5" name="Subtitle 4">
            <a:extLst>
              <a:ext uri="{FF2B5EF4-FFF2-40B4-BE49-F238E27FC236}">
                <a16:creationId xmlns:a16="http://schemas.microsoft.com/office/drawing/2014/main" id="{BE4E0F37-0AD5-833C-CBE5-EAE02EC46069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4927600" y="2465539"/>
            <a:ext cx="6315069" cy="3723753"/>
          </a:xfrm>
        </p:spPr>
        <p:txBody>
          <a:bodyPr>
            <a:normAutofit fontScale="85000" lnSpcReduction="10000"/>
          </a:bodyPr>
          <a:lstStyle/>
          <a:p>
            <a:r>
              <a:rPr lang="en-US" dirty="0"/>
              <a:t>The main objectives of this project are: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visualizations that make academic patterns easier to </a:t>
            </a:r>
            <a:r>
              <a:rPr lang="en-US" dirty="0" err="1"/>
              <a:t>undTo</a:t>
            </a:r>
            <a:r>
              <a:rPr lang="en-US" dirty="0"/>
              <a:t> preprocess and clean the student dataset by handling missing and duplicate values.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Understand key factors influencing student performance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Identify at-risk students using data insights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Provide administrators with a visual and interactive dashboard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Support academic improvement through measurable indicators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Build a scalable and modern data workflow for educational analytics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D6EA54-3083-FB0D-9011-2353791B04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814496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5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5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5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5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5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F60903-003B-273E-3584-5312F76C3E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515601" cy="1327464"/>
          </a:xfrm>
        </p:spPr>
        <p:txBody>
          <a:bodyPr anchor="b">
            <a:normAutofit/>
          </a:bodyPr>
          <a:lstStyle/>
          <a:p>
            <a:r>
              <a:rPr lang="en-US" dirty="0"/>
              <a:t>Tools &amp; Technologies Used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160DFF-2E7E-7A22-819A-C011020DFF01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814302" y="2465535"/>
            <a:ext cx="7303538" cy="412578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The following tools and technologies were used throughout the project:</a:t>
            </a:r>
          </a:p>
          <a:p>
            <a:r>
              <a:rPr lang="en-US" sz="1600" b="1" dirty="0"/>
              <a:t>Python</a:t>
            </a:r>
            <a:r>
              <a:rPr lang="en-US" sz="1600" dirty="0"/>
              <a:t> – Used for data preprocessing, analysis, and visualization.</a:t>
            </a:r>
            <a:br>
              <a:rPr lang="en-US" sz="1600" dirty="0"/>
            </a:br>
            <a:r>
              <a:rPr lang="en-US" sz="1600" dirty="0"/>
              <a:t>    </a:t>
            </a:r>
            <a:r>
              <a:rPr lang="en-US" sz="1600" i="1" dirty="0"/>
              <a:t>(Libraries: Pandas, Matplotlib, Seaborn, SQLite)</a:t>
            </a:r>
          </a:p>
          <a:p>
            <a:r>
              <a:rPr lang="en-US" sz="1600" b="1" dirty="0" err="1"/>
              <a:t>Duckdb</a:t>
            </a:r>
            <a:r>
              <a:rPr lang="en-US" sz="1600" b="1" dirty="0"/>
              <a:t> : </a:t>
            </a:r>
            <a:r>
              <a:rPr lang="en-US" sz="1600" dirty="0"/>
              <a:t>for Analytical Storage</a:t>
            </a:r>
          </a:p>
          <a:p>
            <a:r>
              <a:rPr lang="en-US" sz="1600" b="1" dirty="0"/>
              <a:t>DBT: </a:t>
            </a:r>
            <a:r>
              <a:rPr lang="en-US" sz="1600" dirty="0"/>
              <a:t>for data </a:t>
            </a:r>
            <a:r>
              <a:rPr lang="en-US" sz="1600" dirty="0" err="1"/>
              <a:t>Transformationa</a:t>
            </a:r>
            <a:r>
              <a:rPr lang="en-US" sz="1600" dirty="0"/>
              <a:t> and Models</a:t>
            </a:r>
          </a:p>
          <a:p>
            <a:r>
              <a:rPr lang="en-US" sz="1600" dirty="0"/>
              <a:t> </a:t>
            </a:r>
            <a:r>
              <a:rPr lang="en-US" sz="1600" b="1" dirty="0" err="1"/>
              <a:t>Jupyter</a:t>
            </a:r>
            <a:r>
              <a:rPr lang="en-US" sz="1600" b="1" dirty="0"/>
              <a:t> Notebook</a:t>
            </a:r>
            <a:r>
              <a:rPr lang="en-US" sz="1600" dirty="0"/>
              <a:t> – Used as the main environment for code                              development and testing. </a:t>
            </a:r>
          </a:p>
          <a:p>
            <a:r>
              <a:rPr lang="en-US" sz="1600" dirty="0"/>
              <a:t> </a:t>
            </a:r>
            <a:r>
              <a:rPr lang="en-US" sz="1600" b="1" dirty="0"/>
              <a:t>PowerPoint</a:t>
            </a:r>
            <a:r>
              <a:rPr lang="en-US" sz="1600" dirty="0"/>
              <a:t> – Used for documentation, visualization presentation, and reporting.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4347AE7-D6A2-42FB-3D58-6297742FC3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5</a:t>
            </a:fld>
            <a:endParaRPr lang="en-US"/>
          </a:p>
        </p:txBody>
      </p:sp>
      <p:pic>
        <p:nvPicPr>
          <p:cNvPr id="26" name="Content Placeholder 25" descr="A logo of a powerpoint&#10;&#10;AI-generated content may be incorrect.">
            <a:extLst>
              <a:ext uri="{FF2B5EF4-FFF2-40B4-BE49-F238E27FC236}">
                <a16:creationId xmlns:a16="http://schemas.microsoft.com/office/drawing/2014/main" id="{81790199-FD42-8BA6-7B44-3D602BDC21E9}"/>
              </a:ext>
            </a:extLst>
          </p:cNvPr>
          <p:cNvPicPr>
            <a:picLocks noGrp="1" noChangeAspect="1"/>
          </p:cNvPicPr>
          <p:nvPr>
            <p:ph sz="quarter" idx="37"/>
          </p:nvPr>
        </p:nvPicPr>
        <p:blipFill>
          <a:blip r:embed="rId3"/>
          <a:stretch>
            <a:fillRect/>
          </a:stretch>
        </p:blipFill>
        <p:spPr>
          <a:xfrm>
            <a:off x="8257497" y="4643792"/>
            <a:ext cx="1486333" cy="1486333"/>
          </a:xfrm>
        </p:spPr>
      </p:pic>
      <p:pic>
        <p:nvPicPr>
          <p:cNvPr id="28" name="Picture 27" descr="A logo with orange circles and black text&#10;&#10;AI-generated content may be incorrect.">
            <a:extLst>
              <a:ext uri="{FF2B5EF4-FFF2-40B4-BE49-F238E27FC236}">
                <a16:creationId xmlns:a16="http://schemas.microsoft.com/office/drawing/2014/main" id="{DE9D1966-AF9C-878C-9899-950A1BCF5D5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10096" y="3469043"/>
            <a:ext cx="1874075" cy="1049482"/>
          </a:xfrm>
          <a:prstGeom prst="rect">
            <a:avLst/>
          </a:prstGeom>
        </p:spPr>
      </p:pic>
      <p:pic>
        <p:nvPicPr>
          <p:cNvPr id="30" name="Picture 29" descr="A blue and yellow logo&#10;&#10;AI-generated content may be incorrect.">
            <a:extLst>
              <a:ext uri="{FF2B5EF4-FFF2-40B4-BE49-F238E27FC236}">
                <a16:creationId xmlns:a16="http://schemas.microsoft.com/office/drawing/2014/main" id="{2F94B44C-D355-B078-B35E-466760C7519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11800" y="2094768"/>
            <a:ext cx="2119067" cy="1190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2637282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4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>
            <a:extLst>
              <a:ext uri="{FF2B5EF4-FFF2-40B4-BE49-F238E27FC236}">
                <a16:creationId xmlns:a16="http://schemas.microsoft.com/office/drawing/2014/main" id="{0FD6A3FE-1BF6-4C1A-0553-EBD497A69F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 anchor="b">
            <a:normAutofit/>
          </a:bodyPr>
          <a:lstStyle/>
          <a:p>
            <a:r>
              <a:rPr lang="en-US" dirty="0"/>
              <a:t>📊 Data Analysis &amp; SQL Queries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C15774B0-D971-67D7-27EB-FDB82B3A58CD}"/>
              </a:ext>
            </a:extLst>
          </p:cNvPr>
          <p:cNvSpPr>
            <a:spLocks noGrp="1"/>
          </p:cNvSpPr>
          <p:nvPr>
            <p:ph sz="quarter" idx="35"/>
          </p:nvPr>
        </p:nvSpPr>
        <p:spPr>
          <a:xfrm>
            <a:off x="807038" y="2465539"/>
            <a:ext cx="3774587" cy="3723753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1500" dirty="0"/>
              <a:t>During this stage, the dataset was cleaned and prepared for analysis by:</a:t>
            </a:r>
            <a:br>
              <a:rPr lang="en-US" sz="1500" dirty="0"/>
            </a:br>
            <a:r>
              <a:rPr lang="en-US" sz="1500" dirty="0"/>
              <a:t>• Removing missing and duplicate values.</a:t>
            </a:r>
            <a:br>
              <a:rPr lang="en-US" sz="1500" dirty="0"/>
            </a:br>
            <a:r>
              <a:rPr lang="en-US" sz="1500" dirty="0"/>
              <a:t>• Creating a new column called </a:t>
            </a:r>
            <a:r>
              <a:rPr lang="en-US" sz="1500" i="1" dirty="0"/>
              <a:t>Performance Category</a:t>
            </a:r>
            <a:r>
              <a:rPr lang="en-US" sz="1500" dirty="0"/>
              <a:t> to classify students based on GPA.</a:t>
            </a:r>
          </a:p>
          <a:p>
            <a:pPr>
              <a:lnSpc>
                <a:spcPct val="110000"/>
              </a:lnSpc>
            </a:pPr>
            <a:r>
              <a:rPr lang="en-US" sz="1500" dirty="0"/>
              <a:t>SQL queries were then used to extract key academic insights, such as:</a:t>
            </a:r>
            <a:br>
              <a:rPr lang="en-US" sz="1500" dirty="0"/>
            </a:br>
            <a:r>
              <a:rPr lang="en-US" sz="1500" dirty="0"/>
              <a:t>• Average GPA by Gender and Major.</a:t>
            </a:r>
            <a:br>
              <a:rPr lang="en-US" sz="1500" dirty="0"/>
            </a:br>
            <a:r>
              <a:rPr lang="en-US" sz="1500" dirty="0"/>
              <a:t>• Relationship between Attendance and GPA.</a:t>
            </a:r>
            <a:br>
              <a:rPr lang="en-US" sz="1500" dirty="0"/>
            </a:br>
            <a:r>
              <a:rPr lang="en-US" sz="1500" dirty="0"/>
              <a:t>• List of top-performing students.</a:t>
            </a:r>
          </a:p>
        </p:txBody>
      </p:sp>
      <p:pic>
        <p:nvPicPr>
          <p:cNvPr id="4" name="Picture 3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A72C79E0-8709-50D5-DC73-9FBFEAED7E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0640" y="4739928"/>
            <a:ext cx="3505200" cy="1716410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14" name="Slide Number Placeholder 3">
            <a:extLst>
              <a:ext uri="{FF2B5EF4-FFF2-40B4-BE49-F238E27FC236}">
                <a16:creationId xmlns:a16="http://schemas.microsoft.com/office/drawing/2014/main" id="{9E3CD1BC-28A8-273C-F498-CB876356C6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6</a:t>
            </a:fld>
            <a:endParaRPr lang="en-US"/>
          </a:p>
        </p:txBody>
      </p:sp>
      <p:sp>
        <p:nvSpPr>
          <p:cNvPr id="3" name="Rectangle 2" hidden="1">
            <a:extLst>
              <a:ext uri="{FF2B5EF4-FFF2-40B4-BE49-F238E27FC236}">
                <a16:creationId xmlns:a16="http://schemas.microsoft.com/office/drawing/2014/main" id="{8692FC88-DAD7-F5AD-7831-DE54322108F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/>
        </p:nvSpPr>
        <p:spPr>
          <a:xfrm>
            <a:off x="1" y="2"/>
            <a:ext cx="12227942" cy="6857997"/>
          </a:xfrm>
          <a:prstGeom prst="rect">
            <a:avLst/>
          </a:prstGeom>
          <a:solidFill>
            <a:schemeClr val="tx1">
              <a:alpha val="7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4150CD6-30B5-0585-2C27-D310A6AAD63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5626" y="2211703"/>
            <a:ext cx="2097017" cy="1037234"/>
          </a:xfrm>
          <a:prstGeom prst="rect">
            <a:avLst/>
          </a:prstGeom>
        </p:spPr>
      </p:pic>
      <p:pic>
        <p:nvPicPr>
          <p:cNvPr id="11" name="Picture 10" descr="A screen shot of a computer program&#10;&#10;AI-generated content may be incorrect.">
            <a:extLst>
              <a:ext uri="{FF2B5EF4-FFF2-40B4-BE49-F238E27FC236}">
                <a16:creationId xmlns:a16="http://schemas.microsoft.com/office/drawing/2014/main" id="{9BD1A9F8-D43C-2A41-7A5B-D5A32139059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06574" y="2628719"/>
            <a:ext cx="3774587" cy="19634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73390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6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A29A4-AAFD-04EE-0732-0671E83D5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3562" y="433906"/>
            <a:ext cx="10515601" cy="1327464"/>
          </a:xfrm>
        </p:spPr>
        <p:txBody>
          <a:bodyPr anchor="b">
            <a:normAutofit/>
          </a:bodyPr>
          <a:lstStyle/>
          <a:p>
            <a:r>
              <a:rPr lang="en-US" dirty="0"/>
              <a:t>📈 Visualization Dashboard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9FEE91-E849-1CB0-9E51-A58B99C631C5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733562" y="2465535"/>
            <a:ext cx="6643138" cy="3528865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dirty="0"/>
              <a:t>The visualization dashboard was designed to present clear and interactive insights into student performance.</a:t>
            </a:r>
          </a:p>
          <a:p>
            <a:pPr>
              <a:lnSpc>
                <a:spcPct val="110000"/>
              </a:lnSpc>
            </a:pPr>
            <a:r>
              <a:rPr lang="en-US" dirty="0"/>
              <a:t>It includes several visual elements that highlight key academic patterns: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Bar Chart:</a:t>
            </a:r>
            <a:r>
              <a:rPr lang="en-US" dirty="0"/>
              <a:t> Average GPA by Major.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Pie Chart:</a:t>
            </a:r>
            <a:r>
              <a:rPr lang="en-US" dirty="0"/>
              <a:t> Distribution of performance categories (High, Medium, Low).</a:t>
            </a:r>
            <a:br>
              <a:rPr lang="en-US" dirty="0"/>
            </a:br>
            <a:r>
              <a:rPr lang="en-US" dirty="0"/>
              <a:t>• </a:t>
            </a:r>
            <a:r>
              <a:rPr lang="en-US" b="1" dirty="0"/>
              <a:t>Scatter Plot:</a:t>
            </a:r>
            <a:r>
              <a:rPr lang="en-US" dirty="0"/>
              <a:t> Relationship between Attendance and GPA.</a:t>
            </a:r>
          </a:p>
          <a:p>
            <a:pPr>
              <a:lnSpc>
                <a:spcPct val="110000"/>
              </a:lnSpc>
            </a:pPr>
            <a:r>
              <a:rPr lang="en-US" dirty="0"/>
              <a:t>These visualizations help identify trends and support data-driven decision-making in the education process.</a:t>
            </a:r>
          </a:p>
        </p:txBody>
      </p:sp>
      <p:pic>
        <p:nvPicPr>
          <p:cNvPr id="13" name="Content Placeholder 12" descr="A graph with blue lines and numbers&#10;&#10;AI-generated content may be incorrect.">
            <a:extLst>
              <a:ext uri="{FF2B5EF4-FFF2-40B4-BE49-F238E27FC236}">
                <a16:creationId xmlns:a16="http://schemas.microsoft.com/office/drawing/2014/main" id="{57BDBDD6-3CDD-8515-72D8-DE03CB37A909}"/>
              </a:ext>
            </a:extLst>
          </p:cNvPr>
          <p:cNvPicPr>
            <a:picLocks noGrp="1" noChangeAspect="1"/>
          </p:cNvPicPr>
          <p:nvPr>
            <p:ph sz="quarter" idx="37"/>
          </p:nvPr>
        </p:nvPicPr>
        <p:blipFill>
          <a:blip r:embed="rId3"/>
          <a:stretch>
            <a:fillRect/>
          </a:stretch>
        </p:blipFill>
        <p:spPr>
          <a:xfrm>
            <a:off x="8249921" y="2163142"/>
            <a:ext cx="2600960" cy="2061260"/>
          </a:xfrm>
          <a:noFill/>
        </p:spPr>
      </p:pic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3E23533-91C6-420C-B7D7-4977ACF73A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7</a:t>
            </a:fld>
            <a:endParaRPr lang="en-US"/>
          </a:p>
        </p:txBody>
      </p:sp>
      <p:pic>
        <p:nvPicPr>
          <p:cNvPr id="15" name="Picture 14" descr="A screenshot of a graph&#10;&#10;AI-generated content may be incorrect.">
            <a:extLst>
              <a:ext uri="{FF2B5EF4-FFF2-40B4-BE49-F238E27FC236}">
                <a16:creationId xmlns:a16="http://schemas.microsoft.com/office/drawing/2014/main" id="{4761545C-7688-AD9D-E44A-C00D7B9DF5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9921" y="4411626"/>
            <a:ext cx="2600960" cy="21796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3601555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10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8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0" fill="hold">
                      <p:stCondLst>
                        <p:cond delay="indefinite"/>
                      </p:stCondLst>
                      <p:childTnLst>
                        <p:par>
                          <p:cTn id="21" fill="hold">
                            <p:stCondLst>
                              <p:cond delay="0"/>
                            </p:stCondLst>
                            <p:childTnLst>
                              <p:par>
                                <p:cTn id="22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10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1" dur="10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94A543-EECD-583C-BF8F-1CA93EAB22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 anchor="b">
            <a:normAutofit/>
          </a:bodyPr>
          <a:lstStyle/>
          <a:p>
            <a:r>
              <a:rPr lang="en-US" dirty="0"/>
              <a:t>Data Modeling &amp; Pipeline Architecture (DBT + </a:t>
            </a:r>
            <a:r>
              <a:rPr lang="en-US" dirty="0" err="1"/>
              <a:t>DuckDB</a:t>
            </a:r>
            <a:r>
              <a:rPr lang="en-US" dirty="0"/>
              <a:t>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A727A63-63CD-FBC2-C8FC-0C7F9AB409CA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7420819" cy="4001770"/>
          </a:xfrm>
        </p:spPr>
        <p:txBody>
          <a:bodyPr>
            <a:noAutofit/>
          </a:bodyPr>
          <a:lstStyle/>
          <a:p>
            <a:pPr>
              <a:lnSpc>
                <a:spcPct val="110000"/>
              </a:lnSpc>
            </a:pPr>
            <a:r>
              <a:rPr lang="en-US" sz="1200" dirty="0"/>
              <a:t>We implemented a modern data engineering pipeline that transforms raw student data into analytical models:</a:t>
            </a:r>
          </a:p>
          <a:p>
            <a:pPr>
              <a:lnSpc>
                <a:spcPct val="110000"/>
              </a:lnSpc>
            </a:pPr>
            <a:r>
              <a:rPr lang="en-US" sz="1200" dirty="0"/>
              <a:t>Raw data is loaded into </a:t>
            </a:r>
            <a:r>
              <a:rPr lang="en-US" sz="1200" dirty="0" err="1"/>
              <a:t>DuckDB</a:t>
            </a:r>
            <a:endParaRPr lang="en-US" sz="1200" dirty="0"/>
          </a:p>
          <a:p>
            <a:pPr>
              <a:lnSpc>
                <a:spcPct val="110000"/>
              </a:lnSpc>
            </a:pPr>
            <a:r>
              <a:rPr lang="en-US" sz="1200" dirty="0"/>
              <a:t>DBT applies transformations and creates a </a:t>
            </a:r>
            <a:r>
              <a:rPr lang="en-US" sz="1200" b="1" dirty="0"/>
              <a:t>star schema</a:t>
            </a:r>
            <a:endParaRPr lang="en-US" sz="1200" dirty="0"/>
          </a:p>
          <a:p>
            <a:pPr lvl="1">
              <a:lnSpc>
                <a:spcPct val="110000"/>
              </a:lnSpc>
            </a:pPr>
            <a:r>
              <a:rPr lang="en-US" sz="1200" b="1" dirty="0"/>
              <a:t>Fact Table:</a:t>
            </a:r>
            <a:r>
              <a:rPr lang="en-US" sz="1200" dirty="0"/>
              <a:t> Student Performance</a:t>
            </a:r>
          </a:p>
          <a:p>
            <a:pPr lvl="1">
              <a:lnSpc>
                <a:spcPct val="110000"/>
              </a:lnSpc>
            </a:pPr>
            <a:r>
              <a:rPr lang="en-US" sz="1200" b="1" dirty="0"/>
              <a:t>Dimensions:</a:t>
            </a:r>
            <a:r>
              <a:rPr lang="en-US" sz="1200" dirty="0"/>
              <a:t> Student, Major, Performance Category, Attendance</a:t>
            </a:r>
          </a:p>
          <a:p>
            <a:pPr>
              <a:lnSpc>
                <a:spcPct val="110000"/>
              </a:lnSpc>
            </a:pPr>
            <a:r>
              <a:rPr lang="en-US" sz="1200" dirty="0"/>
              <a:t>The </a:t>
            </a:r>
            <a:r>
              <a:rPr lang="en-US" sz="1200" dirty="0" err="1"/>
              <a:t>Streamlit</a:t>
            </a:r>
            <a:r>
              <a:rPr lang="en-US" sz="1200" dirty="0"/>
              <a:t> dashboard connects directly to </a:t>
            </a:r>
            <a:r>
              <a:rPr lang="en-US" sz="1200" dirty="0" err="1"/>
              <a:t>DuckDB</a:t>
            </a:r>
            <a:r>
              <a:rPr lang="en-US" sz="1200" dirty="0"/>
              <a:t> for real-time analytics</a:t>
            </a:r>
          </a:p>
          <a:p>
            <a:pPr>
              <a:lnSpc>
                <a:spcPct val="110000"/>
              </a:lnSpc>
            </a:pPr>
            <a:r>
              <a:rPr lang="en-US" sz="1200" b="1" dirty="0"/>
              <a:t>Result:</a:t>
            </a:r>
            <a:br>
              <a:rPr lang="en-US" sz="1200" dirty="0"/>
            </a:br>
            <a:r>
              <a:rPr lang="en-US" sz="1200" dirty="0"/>
              <a:t>A scalable, fast, and industry-standard data architecture that elevates the project beyond a normal dashboard.</a:t>
            </a:r>
          </a:p>
          <a:p>
            <a:pPr marL="0" indent="0">
              <a:lnSpc>
                <a:spcPct val="110000"/>
              </a:lnSpc>
              <a:buNone/>
            </a:pPr>
            <a:endParaRPr lang="en-US" sz="1200" dirty="0"/>
          </a:p>
        </p:txBody>
      </p:sp>
      <p:sp>
        <p:nvSpPr>
          <p:cNvPr id="8" name="Slide Number Placeholder 3">
            <a:extLst>
              <a:ext uri="{FF2B5EF4-FFF2-40B4-BE49-F238E27FC236}">
                <a16:creationId xmlns:a16="http://schemas.microsoft.com/office/drawing/2014/main" id="{8605310E-B147-450F-2C8E-57D82015AA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/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5931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883E06-8BEA-1DD3-D0D6-391C08880E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305669" y="113097"/>
            <a:ext cx="7420819" cy="1656304"/>
          </a:xfrm>
        </p:spPr>
        <p:txBody>
          <a:bodyPr anchor="b">
            <a:normAutofit/>
          </a:bodyPr>
          <a:lstStyle/>
          <a:p>
            <a:r>
              <a:rPr lang="en-US" dirty="0"/>
              <a:t>💡 Conclusion &amp; 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175D3-F3DC-695F-474B-346EDCA5D60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3305669" y="2470150"/>
            <a:ext cx="8347851" cy="3676649"/>
          </a:xfrm>
        </p:spPr>
        <p:txBody>
          <a:bodyPr>
            <a:normAutofit/>
          </a:bodyPr>
          <a:lstStyle/>
          <a:p>
            <a:r>
              <a:rPr lang="en-US" dirty="0"/>
              <a:t>Students with higher attendance achieved higher GPAs, proving attendance is a strong indicator of academic success.</a:t>
            </a:r>
          </a:p>
          <a:p>
            <a:r>
              <a:rPr lang="en-US" dirty="0"/>
              <a:t>Female students showed slightly higher GPA averages, reflecting subtle performance differences across gender.</a:t>
            </a:r>
          </a:p>
          <a:p>
            <a:r>
              <a:rPr lang="en-US" dirty="0"/>
              <a:t>The new analytical pipeline using </a:t>
            </a:r>
            <a:r>
              <a:rPr lang="en-US" b="1" dirty="0"/>
              <a:t>DBT + </a:t>
            </a:r>
            <a:r>
              <a:rPr lang="en-US" b="1" dirty="0" err="1"/>
              <a:t>DuckDB</a:t>
            </a:r>
            <a:r>
              <a:rPr lang="en-US" dirty="0"/>
              <a:t> improved data consistency, performance, and reliability, transforming the dashboard into a professional data engineering solution.</a:t>
            </a:r>
          </a:p>
          <a:p>
            <a:r>
              <a:rPr lang="en-US" dirty="0"/>
              <a:t>The system supports early detection of struggling students, enabling proactive academic intervention.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7B8B6A-2B28-5C38-80E7-0EBE705FFB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8059627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43EB8B-0AB9-7554-AEEA-E8D744959E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41680" y="430482"/>
            <a:ext cx="10500989" cy="1327464"/>
          </a:xfrm>
        </p:spPr>
        <p:txBody>
          <a:bodyPr anchor="b">
            <a:normAutofit/>
          </a:bodyPr>
          <a:lstStyle/>
          <a:p>
            <a:pPr lvl="0"/>
            <a:r>
              <a:rPr lang="en-US" dirty="0"/>
              <a:t>🤝 Acknowledgment &amp; References</a:t>
            </a:r>
            <a:endParaRPr lang="en-US" noProof="0" dirty="0"/>
          </a:p>
        </p:txBody>
      </p:sp>
      <p:pic>
        <p:nvPicPr>
          <p:cNvPr id="6" name="Picture Placeholder 5" descr="A blue and purple spiral">
            <a:extLst>
              <a:ext uri="{FF2B5EF4-FFF2-40B4-BE49-F238E27FC236}">
                <a16:creationId xmlns:a16="http://schemas.microsoft.com/office/drawing/2014/main" id="{05B64636-376E-96D4-B550-D764B2C6A6A7}"/>
              </a:ext>
            </a:extLst>
          </p:cNvPr>
          <p:cNvPicPr>
            <a:picLocks noGrp="1" noChangeAspect="1"/>
          </p:cNvPicPr>
          <p:nvPr>
            <p:ph sz="quarter" idx="35"/>
          </p:nvPr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/>
        </p:blipFill>
        <p:spPr>
          <a:xfrm>
            <a:off x="1102427" y="2465539"/>
            <a:ext cx="3183808" cy="3723753"/>
          </a:xfrm>
          <a:noFill/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2F5F9A-B16D-CA49-7F40-A0142E41DC56}"/>
              </a:ext>
            </a:extLst>
          </p:cNvPr>
          <p:cNvSpPr>
            <a:spLocks noGrp="1"/>
          </p:cNvSpPr>
          <p:nvPr>
            <p:ph sz="quarter" idx="36"/>
          </p:nvPr>
        </p:nvSpPr>
        <p:spPr>
          <a:xfrm>
            <a:off x="4927600" y="2465539"/>
            <a:ext cx="6315069" cy="3723753"/>
          </a:xfrm>
        </p:spPr>
        <p:txBody>
          <a:bodyPr>
            <a:normAutofit/>
          </a:bodyPr>
          <a:lstStyle/>
          <a:p>
            <a:r>
              <a:rPr lang="en-US" dirty="0"/>
              <a:t>We would like to express our sincere appreciation to our mentors and instructors at DEPI for their continuous support and guidance throughout this project.</a:t>
            </a:r>
          </a:p>
          <a:p>
            <a:r>
              <a:rPr lang="en-US" b="1" dirty="0"/>
              <a:t>References:</a:t>
            </a:r>
            <a:br>
              <a:rPr lang="en-US" dirty="0"/>
            </a:br>
            <a:r>
              <a:rPr lang="en-US" dirty="0"/>
              <a:t>• Python Libraries: Pandas, Matplotlib, Seaborn, SQLite.</a:t>
            </a:r>
            <a:br>
              <a:rPr lang="en-US" dirty="0"/>
            </a:br>
            <a:r>
              <a:rPr lang="en-US" dirty="0"/>
              <a:t>• Tools: </a:t>
            </a:r>
            <a:r>
              <a:rPr lang="en-US" dirty="0" err="1"/>
              <a:t>Jupyter</a:t>
            </a:r>
            <a:r>
              <a:rPr lang="en-US" dirty="0"/>
              <a:t> Notebook, </a:t>
            </a:r>
            <a:r>
              <a:rPr lang="en-US" dirty="0" err="1"/>
              <a:t>Duckdb</a:t>
            </a:r>
            <a:r>
              <a:rPr lang="en-US" dirty="0"/>
              <a:t>, DBT, PowerPoint.</a:t>
            </a:r>
            <a:br>
              <a:rPr lang="en-US" dirty="0"/>
            </a:br>
            <a:r>
              <a:rPr lang="en-US" dirty="0"/>
              <a:t>• Dataset: Student Performance Dataset (prepared for DEPI project).</a:t>
            </a:r>
          </a:p>
          <a:p>
            <a:r>
              <a:rPr lang="en-US" dirty="0"/>
              <a:t>This project was completed as part of the DEPI Final Milestone submission, October 2025.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1DB868-BEE2-49F7-9AC5-A3B1438802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140971" y="6226198"/>
            <a:ext cx="2743200" cy="36512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fld id="{FE024F78-56A6-7740-B68D-8D4D026EDF3F}" type="slidenum">
              <a:rPr lang="en-US" smtClean="0"/>
              <a:pPr>
                <a:spcAft>
                  <a:spcPts val="600"/>
                </a:spcAft>
              </a:pPr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315636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Title 1">
            <a:extLst>
              <a:ext uri="{FF2B5EF4-FFF2-40B4-BE49-F238E27FC236}">
                <a16:creationId xmlns:a16="http://schemas.microsoft.com/office/drawing/2014/main" id="{CE1ABEC8-43FD-4F21-A7D2-70200D8626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" y="1821180"/>
            <a:ext cx="12191994" cy="3215641"/>
          </a:xfrm>
        </p:spPr>
        <p:txBody>
          <a:bodyPr anchor="ctr">
            <a:normAutofit/>
          </a:bodyPr>
          <a:lstStyle/>
          <a:p>
            <a:r>
              <a:rPr lang="en-US" dirty="0"/>
              <a:t>THANK YOU</a:t>
            </a:r>
          </a:p>
        </p:txBody>
      </p:sp>
    </p:spTree>
    <p:extLst>
      <p:ext uri="{BB962C8B-B14F-4D97-AF65-F5344CB8AC3E}">
        <p14:creationId xmlns:p14="http://schemas.microsoft.com/office/powerpoint/2010/main" val="2395464980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10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4" grpId="0"/>
    </p:bldLst>
  </p:timing>
</p:sld>
</file>

<file path=ppt/theme/theme1.xml><?xml version="1.0" encoding="utf-8"?>
<a:theme xmlns:a="http://schemas.openxmlformats.org/drawingml/2006/main" name="Custom">
  <a:themeElements>
    <a:clrScheme name="Custom 17">
      <a:dk1>
        <a:srgbClr val="000000"/>
      </a:dk1>
      <a:lt1>
        <a:srgbClr val="FFFFFF"/>
      </a:lt1>
      <a:dk2>
        <a:srgbClr val="FC4EFB"/>
      </a:dk2>
      <a:lt2>
        <a:srgbClr val="E7E6E6"/>
      </a:lt2>
      <a:accent1>
        <a:srgbClr val="FAF24C"/>
      </a:accent1>
      <a:accent2>
        <a:srgbClr val="5EFCAC"/>
      </a:accent2>
      <a:accent3>
        <a:srgbClr val="73EBF9"/>
      </a:accent3>
      <a:accent4>
        <a:srgbClr val="316CFC"/>
      </a:accent4>
      <a:accent5>
        <a:srgbClr val="B059FD"/>
      </a:accent5>
      <a:accent6>
        <a:srgbClr val="9405FC"/>
      </a:accent6>
      <a:hlink>
        <a:srgbClr val="FFFFFF"/>
      </a:hlink>
      <a:folHlink>
        <a:srgbClr val="FFFFFF"/>
      </a:folHlink>
    </a:clrScheme>
    <a:fontScheme name="Custom 15">
      <a:majorFont>
        <a:latin typeface="Biome"/>
        <a:ea typeface=""/>
        <a:cs typeface=""/>
      </a:majorFont>
      <a:minorFont>
        <a:latin typeface="Arial Nov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TM11936837_win32_SL_V11" id="{EAD6EF7B-6F25-4469-AF6A-07D6EB1461DD}" vid="{30FEA78B-2F89-4FF0-8415-E3920802C58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E305301E-11B3-4B9D-A588-21F3C9809371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2.xml><?xml version="1.0" encoding="utf-8"?>
<ds:datastoreItem xmlns:ds="http://schemas.openxmlformats.org/officeDocument/2006/customXml" ds:itemID="{44137456-21FC-4AE2-8A94-BF06CAF2EB9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C77B561B-3A65-4A22-9691-EB838E7F9B8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{A5A5D968-1901-4B9B-9EE3-B7BCB1375CD6}TFe8699e8e-689b-4d7e-abcf-e888fd749829db3118dc_win32-d573b439b56f</Template>
  <TotalTime>197</TotalTime>
  <Words>713</Words>
  <Application>Microsoft Office PowerPoint</Application>
  <PresentationFormat>Widescreen</PresentationFormat>
  <Paragraphs>80</Paragraphs>
  <Slides>11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6" baseType="lpstr">
      <vt:lpstr>Arial</vt:lpstr>
      <vt:lpstr>Arial Nova</vt:lpstr>
      <vt:lpstr>Biome</vt:lpstr>
      <vt:lpstr>Calibri</vt:lpstr>
      <vt:lpstr>Custom</vt:lpstr>
      <vt:lpstr>Student Performance Dashboard</vt:lpstr>
      <vt:lpstr>📋 Agenda</vt:lpstr>
      <vt:lpstr>Project Overview</vt:lpstr>
      <vt:lpstr>🎯 Project Objectives</vt:lpstr>
      <vt:lpstr>Tools &amp; Technologies Used</vt:lpstr>
      <vt:lpstr>📊 Data Analysis &amp; SQL Queries</vt:lpstr>
      <vt:lpstr>📈 Visualization Dashboard</vt:lpstr>
      <vt:lpstr>Data Modeling &amp; Pipeline Architecture (DBT + DuckDB)</vt:lpstr>
      <vt:lpstr>💡 Conclusion &amp; Takeaways</vt:lpstr>
      <vt:lpstr>🤝 Acknowledgment &amp; References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Mohammed Wael</dc:creator>
  <cp:lastModifiedBy>Mohammed Wael</cp:lastModifiedBy>
  <cp:revision>7</cp:revision>
  <dcterms:created xsi:type="dcterms:W3CDTF">2025-10-10T11:00:56Z</dcterms:created>
  <dcterms:modified xsi:type="dcterms:W3CDTF">2025-11-28T17:27:50Z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